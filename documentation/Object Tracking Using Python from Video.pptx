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279" r:id="rId2"/>
    <p:sldId id="257" r:id="rId3"/>
    <p:sldId id="258" r:id="rId4"/>
    <p:sldId id="259" r:id="rId5"/>
    <p:sldId id="280" r:id="rId6"/>
    <p:sldId id="260" r:id="rId7"/>
    <p:sldId id="261" r:id="rId8"/>
    <p:sldId id="272" r:id="rId9"/>
    <p:sldId id="478" r:id="rId10"/>
    <p:sldId id="336" r:id="rId11"/>
    <p:sldId id="458" r:id="rId12"/>
    <p:sldId id="464" r:id="rId13"/>
    <p:sldId id="493" r:id="rId14"/>
    <p:sldId id="320" r:id="rId15"/>
    <p:sldId id="494" r:id="rId16"/>
    <p:sldId id="495" r:id="rId17"/>
    <p:sldId id="496" r:id="rId18"/>
    <p:sldId id="497" r:id="rId19"/>
    <p:sldId id="498" r:id="rId20"/>
    <p:sldId id="499" r:id="rId21"/>
    <p:sldId id="334" r:id="rId22"/>
    <p:sldId id="269" r:id="rId23"/>
    <p:sldId id="365" r:id="rId24"/>
    <p:sldId id="275" r:id="rId25"/>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70" d="100"/>
          <a:sy n="70" d="100"/>
        </p:scale>
        <p:origin x="-744" y="-18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50443" y="0"/>
            <a:ext cx="2945659" cy="496411"/>
          </a:xfrm>
          <a:prstGeom prst="rect">
            <a:avLst/>
          </a:prstGeom>
        </p:spPr>
        <p:txBody>
          <a:bodyPr vert="horz" lIns="91440" tIns="45720" rIns="91440" bIns="45720" rtlCol="0"/>
          <a:lstStyle>
            <a:lvl1pPr algn="r">
              <a:defRPr sz="1200"/>
            </a:lvl1pPr>
          </a:lstStyle>
          <a:p>
            <a:fld id="{B95EF5BF-1455-4694-B2FA-2D0AE43C2EAC}" type="datetimeFigureOut">
              <a:rPr lang="en-US" smtClean="0"/>
              <a:t>6/2/2020</a:t>
            </a:fld>
            <a:endParaRPr lang="en-IN"/>
          </a:p>
        </p:txBody>
      </p:sp>
      <p:sp>
        <p:nvSpPr>
          <p:cNvPr id="4" name="Footer Placeholder 3"/>
          <p:cNvSpPr>
            <a:spLocks noGrp="1"/>
          </p:cNvSpPr>
          <p:nvPr>
            <p:ph type="ftr" sz="quarter" idx="2"/>
          </p:nvPr>
        </p:nvSpPr>
        <p:spPr>
          <a:xfrm>
            <a:off x="0" y="9430091"/>
            <a:ext cx="2945659" cy="496411"/>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50443" y="9430091"/>
            <a:ext cx="2945659" cy="496411"/>
          </a:xfrm>
          <a:prstGeom prst="rect">
            <a:avLst/>
          </a:prstGeom>
        </p:spPr>
        <p:txBody>
          <a:bodyPr vert="horz" lIns="91440" tIns="45720" rIns="91440" bIns="45720" rtlCol="0" anchor="b"/>
          <a:lstStyle>
            <a:lvl1pPr algn="r">
              <a:defRPr sz="1200"/>
            </a:lvl1pPr>
          </a:lstStyle>
          <a:p>
            <a:fld id="{3B8320FA-02B3-4F5C-ADF1-BD2D1FF1EF01}" type="slidenum">
              <a:rPr lang="en-IN" smtClean="0"/>
              <a:t>‹#›</a:t>
            </a:fld>
            <a:endParaRPr lang="en-IN"/>
          </a:p>
        </p:txBody>
      </p:sp>
    </p:spTree>
    <p:extLst>
      <p:ext uri="{BB962C8B-B14F-4D97-AF65-F5344CB8AC3E}">
        <p14:creationId xmlns:p14="http://schemas.microsoft.com/office/powerpoint/2010/main" val="29340040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0F01E118-8CDD-4521-89B1-95512AA13378}" type="datetimeFigureOut">
              <a:rPr lang="en-US" smtClean="0"/>
              <a:t>6/2/2020</a:t>
            </a:fld>
            <a:endParaRPr lang="en-US"/>
          </a:p>
        </p:txBody>
      </p:sp>
      <p:sp>
        <p:nvSpPr>
          <p:cNvPr id="4" name="Slide Image Placeholder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16463"/>
            <a:ext cx="5438775" cy="4467225"/>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1C1CCD2D-850C-4B66-A8B6-AB1AED506814}" type="slidenum">
              <a:rPr lang="en-US" smtClean="0"/>
              <a:t>‹#›</a:t>
            </a:fld>
            <a:endParaRPr lang="en-US"/>
          </a:p>
        </p:txBody>
      </p:sp>
    </p:spTree>
    <p:extLst>
      <p:ext uri="{BB962C8B-B14F-4D97-AF65-F5344CB8AC3E}">
        <p14:creationId xmlns:p14="http://schemas.microsoft.com/office/powerpoint/2010/main" val="3413287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3D9B7F5-4305-48C3-BAC3-435486EDAB50}" type="datetime1">
              <a:rPr lang="en-IN" smtClean="0"/>
              <a:t>02-06-2020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C5E9EF-9995-46C3-A752-B3A2D9286500}" type="slidenum">
              <a:rPr lang="en-IN" smtClean="0"/>
              <a:pPr/>
              <a:t>‹#›</a:t>
            </a:fld>
            <a:endParaRPr lang="en-IN"/>
          </a:p>
        </p:txBody>
      </p:sp>
    </p:spTree>
    <p:extLst>
      <p:ext uri="{BB962C8B-B14F-4D97-AF65-F5344CB8AC3E}">
        <p14:creationId xmlns:p14="http://schemas.microsoft.com/office/powerpoint/2010/main" val="2450260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9D10DFA-0A37-4DDF-B3D1-5A2DB3489FA3}" type="datetime1">
              <a:rPr lang="en-IN" smtClean="0"/>
              <a:t>02-06-2020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C5E9EF-9995-46C3-A752-B3A2D9286500}" type="slidenum">
              <a:rPr lang="en-IN" smtClean="0"/>
              <a:pPr/>
              <a:t>‹#›</a:t>
            </a:fld>
            <a:endParaRPr lang="en-IN"/>
          </a:p>
        </p:txBody>
      </p:sp>
    </p:spTree>
    <p:extLst>
      <p:ext uri="{BB962C8B-B14F-4D97-AF65-F5344CB8AC3E}">
        <p14:creationId xmlns:p14="http://schemas.microsoft.com/office/powerpoint/2010/main" val="2365656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333CEC6-6D49-41C1-9BD0-E16CFAB25D1D}" type="datetime1">
              <a:rPr lang="en-IN" smtClean="0"/>
              <a:t>02-06-2020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C5E9EF-9995-46C3-A752-B3A2D9286500}" type="slidenum">
              <a:rPr lang="en-IN" smtClean="0"/>
              <a:pPr/>
              <a:t>‹#›</a:t>
            </a:fld>
            <a:endParaRPr lang="en-IN"/>
          </a:p>
        </p:txBody>
      </p:sp>
    </p:spTree>
    <p:extLst>
      <p:ext uri="{BB962C8B-B14F-4D97-AF65-F5344CB8AC3E}">
        <p14:creationId xmlns:p14="http://schemas.microsoft.com/office/powerpoint/2010/main" val="41661008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158D8F5-96E2-42E0-8B88-C9B555D7EA25}" type="datetime1">
              <a:rPr lang="en-IN" smtClean="0"/>
              <a:t>02-06-2020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C5E9EF-9995-46C3-A752-B3A2D9286500}" type="slidenum">
              <a:rPr lang="en-IN" smtClean="0"/>
              <a:pPr/>
              <a:t>‹#›</a:t>
            </a:fld>
            <a:endParaRPr lang="en-IN"/>
          </a:p>
        </p:txBody>
      </p:sp>
    </p:spTree>
    <p:extLst>
      <p:ext uri="{BB962C8B-B14F-4D97-AF65-F5344CB8AC3E}">
        <p14:creationId xmlns:p14="http://schemas.microsoft.com/office/powerpoint/2010/main" val="539375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19DADBB-B97D-4F21-B7DD-E8B29BBC3FDE}" type="datetime1">
              <a:rPr lang="en-IN" smtClean="0"/>
              <a:t>02-06-2020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CC5E9EF-9995-46C3-A752-B3A2D9286500}" type="slidenum">
              <a:rPr lang="en-IN" smtClean="0"/>
              <a:pPr/>
              <a:t>‹#›</a:t>
            </a:fld>
            <a:endParaRPr lang="en-IN"/>
          </a:p>
        </p:txBody>
      </p:sp>
    </p:spTree>
    <p:extLst>
      <p:ext uri="{BB962C8B-B14F-4D97-AF65-F5344CB8AC3E}">
        <p14:creationId xmlns:p14="http://schemas.microsoft.com/office/powerpoint/2010/main" val="2148785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6C3E6F59-D13F-4836-ACB1-EED2D1BBA9AA}" type="datetime1">
              <a:rPr lang="en-IN" smtClean="0"/>
              <a:t>02-06-2020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CC5E9EF-9995-46C3-A752-B3A2D9286500}" type="slidenum">
              <a:rPr lang="en-IN" smtClean="0"/>
              <a:pPr/>
              <a:t>‹#›</a:t>
            </a:fld>
            <a:endParaRPr lang="en-IN"/>
          </a:p>
        </p:txBody>
      </p:sp>
    </p:spTree>
    <p:extLst>
      <p:ext uri="{BB962C8B-B14F-4D97-AF65-F5344CB8AC3E}">
        <p14:creationId xmlns:p14="http://schemas.microsoft.com/office/powerpoint/2010/main" val="1914278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E63634-5F95-4842-B286-A08D62E7C88C}" type="datetime1">
              <a:rPr lang="en-IN" smtClean="0"/>
              <a:t>02-06-2020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CC5E9EF-9995-46C3-A752-B3A2D9286500}" type="slidenum">
              <a:rPr lang="en-IN" smtClean="0"/>
              <a:pPr/>
              <a:t>‹#›</a:t>
            </a:fld>
            <a:endParaRPr lang="en-IN"/>
          </a:p>
        </p:txBody>
      </p:sp>
    </p:spTree>
    <p:extLst>
      <p:ext uri="{BB962C8B-B14F-4D97-AF65-F5344CB8AC3E}">
        <p14:creationId xmlns:p14="http://schemas.microsoft.com/office/powerpoint/2010/main" val="3703657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F07FAFC-FFC7-45DB-826E-EF15963564AD}" type="datetime1">
              <a:rPr lang="en-IN" smtClean="0"/>
              <a:t>02-06-2020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C5E9EF-9995-46C3-A752-B3A2D9286500}" type="slidenum">
              <a:rPr lang="en-IN" smtClean="0"/>
              <a:pPr/>
              <a:t>‹#›</a:t>
            </a:fld>
            <a:endParaRPr lang="en-IN"/>
          </a:p>
        </p:txBody>
      </p:sp>
    </p:spTree>
    <p:extLst>
      <p:ext uri="{BB962C8B-B14F-4D97-AF65-F5344CB8AC3E}">
        <p14:creationId xmlns:p14="http://schemas.microsoft.com/office/powerpoint/2010/main" val="1237076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8609E9B-8751-431C-B824-7AFBF58E2339}" type="datetime1">
              <a:rPr lang="en-IN" smtClean="0"/>
              <a:t>02-06-2020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C5E9EF-9995-46C3-A752-B3A2D9286500}" type="slidenum">
              <a:rPr lang="en-IN" smtClean="0"/>
              <a:pPr/>
              <a:t>‹#›</a:t>
            </a:fld>
            <a:endParaRPr lang="en-IN"/>
          </a:p>
        </p:txBody>
      </p:sp>
    </p:spTree>
    <p:extLst>
      <p:ext uri="{BB962C8B-B14F-4D97-AF65-F5344CB8AC3E}">
        <p14:creationId xmlns:p14="http://schemas.microsoft.com/office/powerpoint/2010/main" val="3719056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901CC06-9837-4D58-8995-532B3F9DB46A}" type="datetime1">
              <a:rPr lang="en-IN" smtClean="0"/>
              <a:t>02-06-2020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C5E9EF-9995-46C3-A752-B3A2D9286500}" type="slidenum">
              <a:rPr lang="en-IN" smtClean="0"/>
              <a:pPr/>
              <a:t>‹#›</a:t>
            </a:fld>
            <a:endParaRPr lang="en-IN"/>
          </a:p>
        </p:txBody>
      </p:sp>
    </p:spTree>
    <p:extLst>
      <p:ext uri="{BB962C8B-B14F-4D97-AF65-F5344CB8AC3E}">
        <p14:creationId xmlns:p14="http://schemas.microsoft.com/office/powerpoint/2010/main" val="1059679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0CDF967-EC64-454A-A159-D8736BC5AD93}" type="datetime1">
              <a:rPr lang="en-IN" smtClean="0"/>
              <a:t>02-06-2020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C5E9EF-9995-46C3-A752-B3A2D9286500}" type="slidenum">
              <a:rPr lang="en-IN" smtClean="0"/>
              <a:pPr/>
              <a:t>‹#›</a:t>
            </a:fld>
            <a:endParaRPr lang="en-IN"/>
          </a:p>
        </p:txBody>
      </p:sp>
    </p:spTree>
    <p:extLst>
      <p:ext uri="{BB962C8B-B14F-4D97-AF65-F5344CB8AC3E}">
        <p14:creationId xmlns:p14="http://schemas.microsoft.com/office/powerpoint/2010/main" val="2344610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CE9352-89EE-45D8-8759-036065B2CE61}" type="datetime1">
              <a:rPr lang="en-IN" smtClean="0"/>
              <a:t>02-06-2020</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C5E9EF-9995-46C3-A752-B3A2D9286500}" type="slidenum">
              <a:rPr lang="en-IN" smtClean="0"/>
              <a:pPr/>
              <a:t>‹#›</a:t>
            </a:fld>
            <a:endParaRPr lang="en-IN"/>
          </a:p>
        </p:txBody>
      </p:sp>
    </p:spTree>
    <p:extLst>
      <p:ext uri="{BB962C8B-B14F-4D97-AF65-F5344CB8AC3E}">
        <p14:creationId xmlns:p14="http://schemas.microsoft.com/office/powerpoint/2010/main" val="1490401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10352" y="1026022"/>
            <a:ext cx="9144000" cy="2943293"/>
          </a:xfrm>
        </p:spPr>
        <p:txBody>
          <a:bodyPr>
            <a:normAutofit/>
          </a:bodyPr>
          <a:lstStyle/>
          <a:p>
            <a:r>
              <a:rPr lang="en-US" dirty="0">
                <a:latin typeface="Times New Roman" panose="02020603050405020304" pitchFamily="18" charset="0"/>
                <a:cs typeface="Times New Roman" panose="02020603050405020304" pitchFamily="18" charset="0"/>
              </a:rPr>
              <a:t>Object Tracking Using Python from Video</a:t>
            </a:r>
            <a:endParaRPr lang="en-IN"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308539" y="4450126"/>
            <a:ext cx="4193627" cy="584775"/>
          </a:xfrm>
          <a:prstGeom prst="rect">
            <a:avLst/>
          </a:prstGeom>
          <a:noFill/>
        </p:spPr>
        <p:txBody>
          <a:bodyPr wrap="square" rtlCol="0">
            <a:spAutoFit/>
          </a:bodyPr>
          <a:lstStyle/>
          <a:p>
            <a:r>
              <a:rPr lang="en-US" sz="3200" dirty="0" smtClean="0">
                <a:latin typeface="Times New Roman" panose="02020603050405020304" pitchFamily="18" charset="0"/>
                <a:cs typeface="Times New Roman" panose="02020603050405020304" pitchFamily="18" charset="0"/>
              </a:rPr>
              <a:t>Guided By</a:t>
            </a:r>
          </a:p>
        </p:txBody>
      </p:sp>
      <p:sp>
        <p:nvSpPr>
          <p:cNvPr id="6" name="TextBox 5"/>
          <p:cNvSpPr txBox="1"/>
          <p:nvPr/>
        </p:nvSpPr>
        <p:spPr>
          <a:xfrm>
            <a:off x="7472854" y="4491070"/>
            <a:ext cx="4719146" cy="923330"/>
          </a:xfrm>
          <a:prstGeom prst="rect">
            <a:avLst/>
          </a:prstGeom>
          <a:noFill/>
        </p:spPr>
        <p:txBody>
          <a:bodyPr wrap="square" rtlCol="0">
            <a:spAutoFit/>
          </a:bodyPr>
          <a:lstStyle/>
          <a:p>
            <a:r>
              <a:rPr lang="en-US" sz="3200" dirty="0" smtClean="0">
                <a:latin typeface="Times New Roman" pitchFamily="18" charset="0"/>
                <a:cs typeface="Times New Roman" pitchFamily="18" charset="0"/>
              </a:rPr>
              <a:t>Presented By</a:t>
            </a:r>
          </a:p>
          <a:p>
            <a:pPr lvl="1"/>
            <a:endParaRPr lang="en-US" sz="2200" dirty="0" smtClean="0">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fld id="{4CC5E9EF-9995-46C3-A752-B3A2D9286500}" type="slidenum">
              <a:rPr lang="en-IN" smtClean="0"/>
              <a:pPr/>
              <a:t>1</a:t>
            </a:fld>
            <a:endParaRPr lang="en-IN"/>
          </a:p>
        </p:txBody>
      </p:sp>
    </p:spTree>
    <p:extLst>
      <p:ext uri="{BB962C8B-B14F-4D97-AF65-F5344CB8AC3E}">
        <p14:creationId xmlns:p14="http://schemas.microsoft.com/office/powerpoint/2010/main" val="34411574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Synopsis	</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Objective</a:t>
            </a:r>
          </a:p>
          <a:p>
            <a:r>
              <a:rPr lang="en-US" dirty="0" smtClean="0">
                <a:latin typeface="Times New Roman" pitchFamily="18" charset="0"/>
                <a:cs typeface="Times New Roman" pitchFamily="18" charset="0"/>
              </a:rPr>
              <a:t>Introduction</a:t>
            </a:r>
          </a:p>
          <a:p>
            <a:r>
              <a:rPr lang="en-US" dirty="0" smtClean="0">
                <a:latin typeface="Times New Roman" pitchFamily="18" charset="0"/>
                <a:cs typeface="Times New Roman" pitchFamily="18" charset="0"/>
              </a:rPr>
              <a:t>Existing methods</a:t>
            </a:r>
          </a:p>
          <a:p>
            <a:pPr lvl="0"/>
            <a:r>
              <a:rPr lang="en-US" dirty="0">
                <a:solidFill>
                  <a:prstClr val="black"/>
                </a:solidFill>
                <a:latin typeface="Times New Roman" pitchFamily="18" charset="0"/>
                <a:cs typeface="Times New Roman" pitchFamily="18" charset="0"/>
              </a:rPr>
              <a:t>Proposing </a:t>
            </a:r>
            <a:r>
              <a:rPr lang="en-US" dirty="0" smtClean="0">
                <a:solidFill>
                  <a:prstClr val="black"/>
                </a:solidFill>
                <a:latin typeface="Times New Roman" pitchFamily="18" charset="0"/>
                <a:cs typeface="Times New Roman" pitchFamily="18" charset="0"/>
              </a:rPr>
              <a:t>model</a:t>
            </a:r>
          </a:p>
          <a:p>
            <a:pPr lvl="0"/>
            <a:r>
              <a:rPr lang="en-US" dirty="0" smtClean="0">
                <a:solidFill>
                  <a:prstClr val="black"/>
                </a:solidFill>
                <a:latin typeface="Times New Roman" pitchFamily="18" charset="0"/>
                <a:cs typeface="Times New Roman" pitchFamily="18" charset="0"/>
              </a:rPr>
              <a:t>System Architecture</a:t>
            </a:r>
            <a:endParaRPr lang="en-US" dirty="0">
              <a:solidFill>
                <a:prstClr val="black"/>
              </a:solidFill>
              <a:latin typeface="Times New Roman" pitchFamily="18" charset="0"/>
              <a:cs typeface="Times New Roman" pitchFamily="18" charset="0"/>
            </a:endParaRPr>
          </a:p>
          <a:p>
            <a:pPr lvl="0"/>
            <a:r>
              <a:rPr lang="en-US" dirty="0" smtClean="0">
                <a:solidFill>
                  <a:prstClr val="black"/>
                </a:solidFill>
                <a:latin typeface="Times New Roman" pitchFamily="18" charset="0"/>
                <a:cs typeface="Times New Roman" pitchFamily="18" charset="0"/>
              </a:rPr>
              <a:t>Algorithm</a:t>
            </a:r>
          </a:p>
          <a:p>
            <a:pPr lvl="0"/>
            <a:r>
              <a:rPr lang="en-US" dirty="0" smtClean="0">
                <a:solidFill>
                  <a:prstClr val="black"/>
                </a:solidFill>
                <a:latin typeface="Times New Roman" pitchFamily="18" charset="0"/>
                <a:cs typeface="Times New Roman" pitchFamily="18" charset="0"/>
              </a:rPr>
              <a:t>Sample Input</a:t>
            </a:r>
          </a:p>
          <a:p>
            <a:pPr lvl="0"/>
            <a:r>
              <a:rPr lang="en-US" dirty="0" smtClean="0">
                <a:solidFill>
                  <a:prstClr val="black"/>
                </a:solidFill>
                <a:latin typeface="Times New Roman" pitchFamily="18" charset="0"/>
                <a:cs typeface="Times New Roman" pitchFamily="18" charset="0"/>
              </a:rPr>
              <a:t>References</a:t>
            </a:r>
            <a:endParaRPr lang="en-US" dirty="0">
              <a:solidFill>
                <a:prstClr val="black"/>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CC5E9EF-9995-46C3-A752-B3A2D9286500}" type="slidenum">
              <a:rPr lang="en-IN" smtClean="0"/>
              <a:pPr/>
              <a:t>2</a:t>
            </a:fld>
            <a:endParaRPr lang="en-IN"/>
          </a:p>
        </p:txBody>
      </p:sp>
    </p:spTree>
    <p:extLst>
      <p:ext uri="{BB962C8B-B14F-4D97-AF65-F5344CB8AC3E}">
        <p14:creationId xmlns:p14="http://schemas.microsoft.com/office/powerpoint/2010/main" val="1025331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Objective	</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a:r>
              <a:rPr lang="en-US" sz="3600" dirty="0"/>
              <a:t>In this project using python and OPENCV module we are detecting objects from videos and webcam. This application consists of two modules such as ‘Browse System Videos’ and ‘Start Webcam Video Tracking’.</a:t>
            </a:r>
          </a:p>
        </p:txBody>
      </p:sp>
      <p:sp>
        <p:nvSpPr>
          <p:cNvPr id="4" name="Slide Number Placeholder 3"/>
          <p:cNvSpPr>
            <a:spLocks noGrp="1"/>
          </p:cNvSpPr>
          <p:nvPr>
            <p:ph type="sldNum" sz="quarter" idx="12"/>
          </p:nvPr>
        </p:nvSpPr>
        <p:spPr/>
        <p:txBody>
          <a:bodyPr/>
          <a:lstStyle/>
          <a:p>
            <a:fld id="{4CC5E9EF-9995-46C3-A752-B3A2D9286500}" type="slidenum">
              <a:rPr lang="en-IN" smtClean="0"/>
              <a:pPr/>
              <a:t>3</a:t>
            </a:fld>
            <a:endParaRPr lang="en-IN"/>
          </a:p>
        </p:txBody>
      </p:sp>
    </p:spTree>
    <p:extLst>
      <p:ext uri="{BB962C8B-B14F-4D97-AF65-F5344CB8AC3E}">
        <p14:creationId xmlns:p14="http://schemas.microsoft.com/office/powerpoint/2010/main" val="17358631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Introduction</a:t>
            </a:r>
            <a:endParaRPr lang="en-IN" dirty="0"/>
          </a:p>
        </p:txBody>
      </p:sp>
      <p:sp>
        <p:nvSpPr>
          <p:cNvPr id="4" name="Slide Number Placeholder 3"/>
          <p:cNvSpPr>
            <a:spLocks noGrp="1"/>
          </p:cNvSpPr>
          <p:nvPr>
            <p:ph type="sldNum" sz="quarter" idx="12"/>
          </p:nvPr>
        </p:nvSpPr>
        <p:spPr/>
        <p:txBody>
          <a:bodyPr/>
          <a:lstStyle/>
          <a:p>
            <a:fld id="{4CC5E9EF-9995-46C3-A752-B3A2D9286500}" type="slidenum">
              <a:rPr lang="en-IN" smtClean="0"/>
              <a:pPr/>
              <a:t>4</a:t>
            </a:fld>
            <a:endParaRPr lang="en-IN"/>
          </a:p>
        </p:txBody>
      </p:sp>
      <p:sp>
        <p:nvSpPr>
          <p:cNvPr id="5" name="TextBox 4"/>
          <p:cNvSpPr txBox="1"/>
          <p:nvPr/>
        </p:nvSpPr>
        <p:spPr>
          <a:xfrm>
            <a:off x="914391" y="1569487"/>
            <a:ext cx="10713502" cy="3539430"/>
          </a:xfrm>
          <a:prstGeom prst="rect">
            <a:avLst/>
          </a:prstGeom>
          <a:noFill/>
        </p:spPr>
        <p:txBody>
          <a:bodyPr wrap="square" rtlCol="0">
            <a:spAutoFit/>
          </a:bodyPr>
          <a:lstStyle/>
          <a:p>
            <a:pPr lvl="0" algn="just"/>
            <a:r>
              <a:rPr lang="en-US" sz="3200" dirty="0"/>
              <a:t>Many problems in computer vision were saturating on their accuracy before a decade.</a:t>
            </a:r>
          </a:p>
          <a:p>
            <a:pPr lvl="0" algn="just"/>
            <a:r>
              <a:rPr lang="en-US" sz="3200" dirty="0"/>
              <a:t> However, with the rise of deep learning techniques, the accuracy of these problems drastically improved. </a:t>
            </a:r>
          </a:p>
          <a:p>
            <a:pPr lvl="0" algn="just"/>
            <a:r>
              <a:rPr lang="en-US" sz="3200" dirty="0"/>
              <a:t>One of the major problem was that of image classification, which is defined as predicting the class of the image.</a:t>
            </a:r>
          </a:p>
          <a:p>
            <a:pPr lvl="0" algn="just"/>
            <a:r>
              <a:rPr lang="en-US" sz="3200" dirty="0"/>
              <a:t>There is no object detection in existing system by using </a:t>
            </a:r>
            <a:r>
              <a:rPr lang="en-US" sz="3200" dirty="0" err="1"/>
              <a:t>Opencv</a:t>
            </a:r>
            <a:endParaRPr lang="en-US" sz="3200" dirty="0"/>
          </a:p>
        </p:txBody>
      </p:sp>
    </p:spTree>
    <p:extLst>
      <p:ext uri="{BB962C8B-B14F-4D97-AF65-F5344CB8AC3E}">
        <p14:creationId xmlns:p14="http://schemas.microsoft.com/office/powerpoint/2010/main" val="11577678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4118" y="0"/>
            <a:ext cx="10515600" cy="1325563"/>
          </a:xfrm>
        </p:spPr>
        <p:txBody>
          <a:bodyPr/>
          <a:lstStyle/>
          <a:p>
            <a:r>
              <a:rPr lang="en-US" dirty="0" smtClean="0"/>
              <a:t>Literature Survey</a:t>
            </a:r>
            <a:endParaRPr lang="en-IN" dirty="0"/>
          </a:p>
        </p:txBody>
      </p:sp>
      <p:sp>
        <p:nvSpPr>
          <p:cNvPr id="3" name="Slide Number Placeholder 2"/>
          <p:cNvSpPr>
            <a:spLocks noGrp="1"/>
          </p:cNvSpPr>
          <p:nvPr>
            <p:ph type="sldNum" sz="quarter" idx="12"/>
          </p:nvPr>
        </p:nvSpPr>
        <p:spPr/>
        <p:txBody>
          <a:bodyPr/>
          <a:lstStyle/>
          <a:p>
            <a:fld id="{4CC5E9EF-9995-46C3-A752-B3A2D9286500}" type="slidenum">
              <a:rPr lang="en-IN" smtClean="0"/>
              <a:pPr/>
              <a:t>5</a:t>
            </a:fld>
            <a:endParaRPr lang="en-IN"/>
          </a:p>
        </p:txBody>
      </p:sp>
      <p:sp>
        <p:nvSpPr>
          <p:cNvPr id="5" name="Content Placeholder 4"/>
          <p:cNvSpPr>
            <a:spLocks noGrp="1"/>
          </p:cNvSpPr>
          <p:nvPr>
            <p:ph idx="1"/>
          </p:nvPr>
        </p:nvSpPr>
        <p:spPr>
          <a:xfrm>
            <a:off x="838200" y="1539017"/>
            <a:ext cx="10515600" cy="4351338"/>
          </a:xfrm>
        </p:spPr>
        <p:txBody>
          <a:bodyPr>
            <a:noAutofit/>
          </a:bodyPr>
          <a:lstStyle/>
          <a:p>
            <a:pPr algn="just"/>
            <a:r>
              <a:rPr lang="en-US" dirty="0"/>
              <a:t>[1] Wei Liu and Alexander C. Berg, “SSD: Single Shot </a:t>
            </a:r>
            <a:r>
              <a:rPr lang="en-US" dirty="0" err="1"/>
              <a:t>MultiBox</a:t>
            </a:r>
            <a:r>
              <a:rPr lang="en-US" dirty="0"/>
              <a:t> Detector”,</a:t>
            </a:r>
          </a:p>
          <a:p>
            <a:pPr algn="just"/>
            <a:r>
              <a:rPr lang="en-US" dirty="0"/>
              <a:t>Google Inc., Dec 2016.</a:t>
            </a:r>
          </a:p>
          <a:p>
            <a:pPr algn="just"/>
            <a:r>
              <a:rPr lang="en-US" dirty="0"/>
              <a:t>[2] Andrew G. Howard, and </a:t>
            </a:r>
            <a:r>
              <a:rPr lang="en-US" dirty="0" err="1"/>
              <a:t>Hartwig</a:t>
            </a:r>
            <a:r>
              <a:rPr lang="en-US" dirty="0"/>
              <a:t> Adam, “</a:t>
            </a:r>
            <a:r>
              <a:rPr lang="en-US" dirty="0" err="1"/>
              <a:t>MobileNets</a:t>
            </a:r>
            <a:r>
              <a:rPr lang="en-US" dirty="0"/>
              <a:t>: Efficient</a:t>
            </a:r>
          </a:p>
          <a:p>
            <a:pPr algn="just"/>
            <a:r>
              <a:rPr lang="en-US" dirty="0"/>
              <a:t>Convolutional Neural Networks for Mobile Vision Applications”, Google</a:t>
            </a:r>
          </a:p>
          <a:p>
            <a:pPr algn="just"/>
            <a:r>
              <a:rPr lang="en-US" dirty="0"/>
              <a:t>Inc., 17 Apr 2017.</a:t>
            </a:r>
          </a:p>
          <a:p>
            <a:pPr algn="just"/>
            <a:r>
              <a:rPr lang="en-US" dirty="0"/>
              <a:t>[3] Justin Lai, Sydney Maples, “Ammunition Detection: Developing a Real-</a:t>
            </a:r>
          </a:p>
          <a:p>
            <a:pPr algn="just"/>
            <a:r>
              <a:rPr lang="en-US" dirty="0"/>
              <a:t>Time Gun Detection Classifier”, Stanford University, Feb 2017</a:t>
            </a:r>
          </a:p>
        </p:txBody>
      </p:sp>
    </p:spTree>
    <p:extLst>
      <p:ext uri="{BB962C8B-B14F-4D97-AF65-F5344CB8AC3E}">
        <p14:creationId xmlns:p14="http://schemas.microsoft.com/office/powerpoint/2010/main" val="4382124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Existing System</a:t>
            </a:r>
            <a:endParaRPr lang="en-IN" dirty="0"/>
          </a:p>
        </p:txBody>
      </p:sp>
      <p:sp>
        <p:nvSpPr>
          <p:cNvPr id="3" name="Content Placeholder 2"/>
          <p:cNvSpPr>
            <a:spLocks noGrp="1"/>
          </p:cNvSpPr>
          <p:nvPr>
            <p:ph idx="1"/>
          </p:nvPr>
        </p:nvSpPr>
        <p:spPr/>
        <p:txBody>
          <a:bodyPr>
            <a:noAutofit/>
          </a:bodyPr>
          <a:lstStyle/>
          <a:p>
            <a:pPr algn="just"/>
            <a:r>
              <a:rPr lang="en-IN" sz="3600" dirty="0"/>
              <a:t>Deep learning has gained a tremendous influence on how the world is adapting to Artificial Intelligence since past few years. Some of the popular object detection algorithms are Region-based Convolutional Neural Networks (RCNN), Faster- RCNN, Single Shot Detector (SSD) and You Only Look Once (YOLO).</a:t>
            </a:r>
            <a:endParaRPr lang="en-US" sz="3600" b="1" dirty="0"/>
          </a:p>
        </p:txBody>
      </p:sp>
      <p:sp>
        <p:nvSpPr>
          <p:cNvPr id="4" name="Slide Number Placeholder 3"/>
          <p:cNvSpPr>
            <a:spLocks noGrp="1"/>
          </p:cNvSpPr>
          <p:nvPr>
            <p:ph type="sldNum" sz="quarter" idx="12"/>
          </p:nvPr>
        </p:nvSpPr>
        <p:spPr/>
        <p:txBody>
          <a:bodyPr/>
          <a:lstStyle/>
          <a:p>
            <a:fld id="{4CC5E9EF-9995-46C3-A752-B3A2D9286500}" type="slidenum">
              <a:rPr lang="en-IN" smtClean="0"/>
              <a:pPr/>
              <a:t>6</a:t>
            </a:fld>
            <a:endParaRPr lang="en-IN"/>
          </a:p>
        </p:txBody>
      </p:sp>
    </p:spTree>
    <p:extLst>
      <p:ext uri="{BB962C8B-B14F-4D97-AF65-F5344CB8AC3E}">
        <p14:creationId xmlns:p14="http://schemas.microsoft.com/office/powerpoint/2010/main" val="11677952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solidFill>
                  <a:prstClr val="black"/>
                </a:solidFill>
                <a:latin typeface="Times New Roman" pitchFamily="18" charset="0"/>
                <a:cs typeface="Times New Roman" pitchFamily="18" charset="0"/>
              </a:rPr>
              <a:t>Proposing </a:t>
            </a:r>
            <a:r>
              <a:rPr lang="en-US" dirty="0" smtClean="0">
                <a:solidFill>
                  <a:prstClr val="black"/>
                </a:solidFill>
                <a:latin typeface="Times New Roman" pitchFamily="18" charset="0"/>
                <a:cs typeface="Times New Roman" pitchFamily="18" charset="0"/>
              </a:rPr>
              <a:t>model</a:t>
            </a:r>
            <a:endParaRPr lang="en-IN" dirty="0"/>
          </a:p>
        </p:txBody>
      </p:sp>
      <p:sp>
        <p:nvSpPr>
          <p:cNvPr id="3" name="Content Placeholder 2"/>
          <p:cNvSpPr>
            <a:spLocks noGrp="1"/>
          </p:cNvSpPr>
          <p:nvPr>
            <p:ph idx="1"/>
          </p:nvPr>
        </p:nvSpPr>
        <p:spPr/>
        <p:txBody>
          <a:bodyPr>
            <a:noAutofit/>
          </a:bodyPr>
          <a:lstStyle/>
          <a:p>
            <a:pPr lvl="0" algn="just"/>
            <a:r>
              <a:rPr lang="en-IN" sz="3200" dirty="0"/>
              <a:t>Dense Optical flow: These algorithms help estimate the motion vector of every pixel in a video frame.</a:t>
            </a:r>
            <a:endParaRPr lang="en-US" sz="3200" dirty="0"/>
          </a:p>
          <a:p>
            <a:pPr lvl="0" algn="just"/>
            <a:r>
              <a:rPr lang="en-IN" sz="3200" dirty="0"/>
              <a:t>Sparse optical flow: These algorithms, like the </a:t>
            </a:r>
            <a:r>
              <a:rPr lang="en-IN" sz="3200" dirty="0" err="1"/>
              <a:t>Kanade</a:t>
            </a:r>
            <a:r>
              <a:rPr lang="en-IN" sz="3200" dirty="0"/>
              <a:t>-Lucas-</a:t>
            </a:r>
            <a:r>
              <a:rPr lang="en-IN" sz="3200" dirty="0" err="1"/>
              <a:t>Tomashi</a:t>
            </a:r>
            <a:r>
              <a:rPr lang="en-IN" sz="3200" dirty="0"/>
              <a:t> (KLT) feature tracker, track the location of a few feature points in an image.</a:t>
            </a:r>
            <a:endParaRPr lang="en-US" sz="3200" dirty="0"/>
          </a:p>
          <a:p>
            <a:pPr lvl="0" algn="just"/>
            <a:r>
              <a:rPr lang="en-IN" sz="3200" dirty="0" err="1"/>
              <a:t>Kalman</a:t>
            </a:r>
            <a:r>
              <a:rPr lang="en-IN" sz="3200" dirty="0"/>
              <a:t> Filtering: A very popular signal processing algorithm used to predict the location of a moving object based on prior motion information. One of the early applications of this algorithm was missile guidance! Also as mentioned here, “the on-board computer that guided the descent of the Apollo 11 lunar module to the moon had a </a:t>
            </a:r>
            <a:r>
              <a:rPr lang="en-IN" sz="3200" dirty="0" err="1"/>
              <a:t>Kalman</a:t>
            </a:r>
            <a:r>
              <a:rPr lang="en-IN" sz="3200" dirty="0"/>
              <a:t> filter”.</a:t>
            </a:r>
            <a:endParaRPr lang="en-US" sz="3200" dirty="0"/>
          </a:p>
        </p:txBody>
      </p:sp>
      <p:sp>
        <p:nvSpPr>
          <p:cNvPr id="4" name="Slide Number Placeholder 3"/>
          <p:cNvSpPr>
            <a:spLocks noGrp="1"/>
          </p:cNvSpPr>
          <p:nvPr>
            <p:ph type="sldNum" sz="quarter" idx="12"/>
          </p:nvPr>
        </p:nvSpPr>
        <p:spPr/>
        <p:txBody>
          <a:bodyPr/>
          <a:lstStyle/>
          <a:p>
            <a:fld id="{4CC5E9EF-9995-46C3-A752-B3A2D9286500}" type="slidenum">
              <a:rPr lang="en-IN" smtClean="0"/>
              <a:pPr/>
              <a:t>7</a:t>
            </a:fld>
            <a:endParaRPr lang="en-IN"/>
          </a:p>
        </p:txBody>
      </p:sp>
    </p:spTree>
    <p:extLst>
      <p:ext uri="{BB962C8B-B14F-4D97-AF65-F5344CB8AC3E}">
        <p14:creationId xmlns:p14="http://schemas.microsoft.com/office/powerpoint/2010/main" val="10397442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Modules</a:t>
            </a:r>
            <a:r>
              <a:rPr lang="en-US" dirty="0" smtClean="0"/>
              <a:t>	</a:t>
            </a:r>
            <a:endParaRPr lang="en-IN" dirty="0"/>
          </a:p>
        </p:txBody>
      </p:sp>
      <p:sp>
        <p:nvSpPr>
          <p:cNvPr id="3" name="Content Placeholder 2"/>
          <p:cNvSpPr>
            <a:spLocks noGrp="1"/>
          </p:cNvSpPr>
          <p:nvPr>
            <p:ph idx="1"/>
          </p:nvPr>
        </p:nvSpPr>
        <p:spPr>
          <a:xfrm>
            <a:off x="838200" y="1457129"/>
            <a:ext cx="10515600" cy="4351338"/>
          </a:xfrm>
        </p:spPr>
        <p:txBody>
          <a:bodyPr>
            <a:noAutofit/>
          </a:bodyPr>
          <a:lstStyle/>
          <a:p>
            <a:pPr algn="just"/>
            <a:r>
              <a:rPr lang="en-US" sz="4000" b="1" dirty="0"/>
              <a:t>Browse System Videos</a:t>
            </a:r>
            <a:r>
              <a:rPr lang="en-US" sz="4000" dirty="0"/>
              <a:t>: Using this module application allow user to upload any video from his system and application will connect to that video and start playing it, while playing if application detect any object then it will mark that object with bounding boxes, while playing video if user wants to stop tracking then he need to press ‘q’ key from keyboard to stop video playing</a:t>
            </a:r>
            <a:r>
              <a:rPr lang="en-US" sz="4000" dirty="0" smtClean="0"/>
              <a:t>.</a:t>
            </a:r>
            <a:endParaRPr lang="en-US" sz="4000" dirty="0"/>
          </a:p>
        </p:txBody>
      </p:sp>
      <p:sp>
        <p:nvSpPr>
          <p:cNvPr id="20" name="Slide Number Placeholder 19"/>
          <p:cNvSpPr>
            <a:spLocks noGrp="1"/>
          </p:cNvSpPr>
          <p:nvPr>
            <p:ph type="sldNum" sz="quarter" idx="12"/>
          </p:nvPr>
        </p:nvSpPr>
        <p:spPr/>
        <p:txBody>
          <a:bodyPr/>
          <a:lstStyle/>
          <a:p>
            <a:fld id="{4CC5E9EF-9995-46C3-A752-B3A2D9286500}" type="slidenum">
              <a:rPr lang="en-IN" smtClean="0"/>
              <a:pPr/>
              <a:t>8</a:t>
            </a:fld>
            <a:endParaRPr lang="en-IN"/>
          </a:p>
        </p:txBody>
      </p:sp>
    </p:spTree>
    <p:extLst>
      <p:ext uri="{BB962C8B-B14F-4D97-AF65-F5344CB8AC3E}">
        <p14:creationId xmlns:p14="http://schemas.microsoft.com/office/powerpoint/2010/main" val="40146035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algn="just"/>
            <a:r>
              <a:rPr lang="en-US" sz="4800" b="1" dirty="0" smtClean="0"/>
              <a:t>Start </a:t>
            </a:r>
            <a:r>
              <a:rPr lang="en-US" sz="4800" b="1" dirty="0"/>
              <a:t>Webcam Video Tracking: </a:t>
            </a:r>
            <a:r>
              <a:rPr lang="en-US" sz="4800" dirty="0"/>
              <a:t>Using this module application connect itself with inbuilt system webcam and start video streaming, while streaming if application detect any object then it will surround that object with bounding boxes, while playing press ‘q’ to stop web cam streaming.</a:t>
            </a:r>
            <a:endParaRPr lang="en-US" sz="4800" dirty="0"/>
          </a:p>
        </p:txBody>
      </p:sp>
      <p:sp>
        <p:nvSpPr>
          <p:cNvPr id="4" name="Slide Number Placeholder 3"/>
          <p:cNvSpPr>
            <a:spLocks noGrp="1"/>
          </p:cNvSpPr>
          <p:nvPr>
            <p:ph type="sldNum" sz="quarter" idx="12"/>
          </p:nvPr>
        </p:nvSpPr>
        <p:spPr/>
        <p:txBody>
          <a:bodyPr/>
          <a:lstStyle/>
          <a:p>
            <a:fld id="{4CC5E9EF-9995-46C3-A752-B3A2D9286500}" type="slidenum">
              <a:rPr lang="en-IN" smtClean="0"/>
              <a:pPr/>
              <a:t>9</a:t>
            </a:fld>
            <a:endParaRPr lang="en-IN"/>
          </a:p>
        </p:txBody>
      </p:sp>
    </p:spTree>
    <p:extLst>
      <p:ext uri="{BB962C8B-B14F-4D97-AF65-F5344CB8AC3E}">
        <p14:creationId xmlns:p14="http://schemas.microsoft.com/office/powerpoint/2010/main" val="4058143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UML</a:t>
            </a:r>
            <a:endParaRPr lang="en-US" dirty="0"/>
          </a:p>
        </p:txBody>
      </p:sp>
      <p:sp>
        <p:nvSpPr>
          <p:cNvPr id="4" name="Slide Number Placeholder 3"/>
          <p:cNvSpPr>
            <a:spLocks noGrp="1"/>
          </p:cNvSpPr>
          <p:nvPr>
            <p:ph type="sldNum" sz="quarter" idx="12"/>
          </p:nvPr>
        </p:nvSpPr>
        <p:spPr/>
        <p:txBody>
          <a:bodyPr/>
          <a:lstStyle/>
          <a:p>
            <a:fld id="{4CC5E9EF-9995-46C3-A752-B3A2D9286500}" type="slidenum">
              <a:rPr lang="en-IN" smtClean="0"/>
              <a:pPr/>
              <a:t>10</a:t>
            </a:fld>
            <a:endParaRPr lang="en-IN"/>
          </a:p>
        </p:txBody>
      </p:sp>
      <p:pic>
        <p:nvPicPr>
          <p:cNvPr id="6" name="Content Placeholder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66661" y="2038661"/>
            <a:ext cx="4458677" cy="3925266"/>
          </a:xfrm>
          <a:prstGeom prst="rect">
            <a:avLst/>
          </a:prstGeom>
          <a:noFill/>
          <a:ln>
            <a:noFill/>
          </a:ln>
        </p:spPr>
      </p:pic>
    </p:spTree>
    <p:extLst>
      <p:ext uri="{BB962C8B-B14F-4D97-AF65-F5344CB8AC3E}">
        <p14:creationId xmlns:p14="http://schemas.microsoft.com/office/powerpoint/2010/main" val="3615053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4CC5E9EF-9995-46C3-A752-B3A2D9286500}" type="slidenum">
              <a:rPr lang="en-IN" smtClean="0"/>
              <a:pPr/>
              <a:t>11</a:t>
            </a:fld>
            <a:endParaRPr lang="en-IN"/>
          </a:p>
        </p:txBody>
      </p:sp>
      <p:sp>
        <p:nvSpPr>
          <p:cNvPr id="3" name="Content Placeholder 2"/>
          <p:cNvSpPr>
            <a:spLocks noGrp="1"/>
          </p:cNvSpPr>
          <p:nvPr>
            <p:ph idx="1"/>
          </p:nvPr>
        </p:nvSpPr>
        <p:spPr/>
        <p:txBody>
          <a:bodyPr/>
          <a:lstStyle/>
          <a:p>
            <a:r>
              <a:rPr lang="en-US" dirty="0" smtClean="0"/>
              <a:t> </a:t>
            </a:r>
            <a:endParaRPr lang="en-US" dirty="0"/>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4308157" y="1818640"/>
            <a:ext cx="3575685" cy="3220720"/>
          </a:xfrm>
          <a:prstGeom prst="rect">
            <a:avLst/>
          </a:prstGeom>
          <a:noFill/>
          <a:ln>
            <a:noFill/>
          </a:ln>
        </p:spPr>
      </p:pic>
    </p:spTree>
    <p:extLst>
      <p:ext uri="{BB962C8B-B14F-4D97-AF65-F5344CB8AC3E}">
        <p14:creationId xmlns:p14="http://schemas.microsoft.com/office/powerpoint/2010/main" val="3396648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4CC5E9EF-9995-46C3-A752-B3A2D9286500}" type="slidenum">
              <a:rPr lang="en-IN" smtClean="0"/>
              <a:pPr/>
              <a:t>12</a:t>
            </a:fld>
            <a:endParaRPr lang="en-IN"/>
          </a:p>
        </p:txBody>
      </p:sp>
      <p:pic>
        <p:nvPicPr>
          <p:cNvPr id="8" name="Content Placeholder 7"/>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50852" y="1975145"/>
            <a:ext cx="4090296" cy="4052297"/>
          </a:xfrm>
          <a:prstGeom prst="rect">
            <a:avLst/>
          </a:prstGeom>
          <a:noFill/>
          <a:ln>
            <a:noFill/>
          </a:ln>
        </p:spPr>
      </p:pic>
    </p:spTree>
    <p:extLst>
      <p:ext uri="{BB962C8B-B14F-4D97-AF65-F5344CB8AC3E}">
        <p14:creationId xmlns:p14="http://schemas.microsoft.com/office/powerpoint/2010/main" val="3676376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4CC5E9EF-9995-46C3-A752-B3A2D9286500}" type="slidenum">
              <a:rPr lang="en-IN" smtClean="0"/>
              <a:pPr/>
              <a:t>13</a:t>
            </a:fld>
            <a:endParaRPr lang="en-IN"/>
          </a:p>
        </p:txBody>
      </p:sp>
      <p:pic>
        <p:nvPicPr>
          <p:cNvPr id="7" name="Content Placeholder 6"/>
          <p:cNvPicPr>
            <a:picLocks noGrp="1"/>
          </p:cNvPicPr>
          <p:nvPr>
            <p:ph idx="1"/>
          </p:nvPr>
        </p:nvPicPr>
        <p:blipFill>
          <a:blip r:embed="rId2"/>
          <a:stretch>
            <a:fillRect/>
          </a:stretch>
        </p:blipFill>
        <p:spPr>
          <a:xfrm>
            <a:off x="4766950" y="1825625"/>
            <a:ext cx="2658099" cy="4351338"/>
          </a:xfrm>
          <a:prstGeom prst="rect">
            <a:avLst/>
          </a:prstGeom>
        </p:spPr>
      </p:pic>
    </p:spTree>
    <p:extLst>
      <p:ext uri="{BB962C8B-B14F-4D97-AF65-F5344CB8AC3E}">
        <p14:creationId xmlns:p14="http://schemas.microsoft.com/office/powerpoint/2010/main" val="2701849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Screen Shots</a:t>
            </a:r>
            <a:endParaRPr lang="en-US" dirty="0"/>
          </a:p>
        </p:txBody>
      </p:sp>
      <p:sp>
        <p:nvSpPr>
          <p:cNvPr id="4" name="Slide Number Placeholder 3"/>
          <p:cNvSpPr>
            <a:spLocks noGrp="1"/>
          </p:cNvSpPr>
          <p:nvPr>
            <p:ph type="sldNum" sz="quarter" idx="12"/>
          </p:nvPr>
        </p:nvSpPr>
        <p:spPr/>
        <p:txBody>
          <a:bodyPr/>
          <a:lstStyle/>
          <a:p>
            <a:fld id="{4CC5E9EF-9995-46C3-A752-B3A2D9286500}" type="slidenum">
              <a:rPr lang="en-IN" smtClean="0"/>
              <a:pPr/>
              <a:t>14</a:t>
            </a:fld>
            <a:endParaRPr lang="en-IN"/>
          </a:p>
        </p:txBody>
      </p:sp>
      <p:pic>
        <p:nvPicPr>
          <p:cNvPr id="6" name="Content Placeholder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26255" y="1825625"/>
            <a:ext cx="7739489" cy="4351338"/>
          </a:xfrm>
          <a:prstGeom prst="rect">
            <a:avLst/>
          </a:prstGeom>
          <a:noFill/>
          <a:ln>
            <a:noFill/>
          </a:ln>
        </p:spPr>
      </p:pic>
    </p:spTree>
    <p:extLst>
      <p:ext uri="{BB962C8B-B14F-4D97-AF65-F5344CB8AC3E}">
        <p14:creationId xmlns:p14="http://schemas.microsoft.com/office/powerpoint/2010/main" val="34637440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4CC5E9EF-9995-46C3-A752-B3A2D9286500}" type="slidenum">
              <a:rPr lang="en-IN" smtClean="0"/>
              <a:pPr/>
              <a:t>15</a:t>
            </a:fld>
            <a:endParaRPr lang="en-IN"/>
          </a:p>
        </p:txBody>
      </p:sp>
      <p:pic>
        <p:nvPicPr>
          <p:cNvPr id="5" name="Content Placeholder 4"/>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26255" y="1825625"/>
            <a:ext cx="7739489" cy="4351338"/>
          </a:xfrm>
          <a:prstGeom prst="rect">
            <a:avLst/>
          </a:prstGeom>
          <a:noFill/>
          <a:ln>
            <a:noFill/>
          </a:ln>
        </p:spPr>
      </p:pic>
    </p:spTree>
    <p:extLst>
      <p:ext uri="{BB962C8B-B14F-4D97-AF65-F5344CB8AC3E}">
        <p14:creationId xmlns:p14="http://schemas.microsoft.com/office/powerpoint/2010/main" val="3993496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4CC5E9EF-9995-46C3-A752-B3A2D9286500}" type="slidenum">
              <a:rPr lang="en-IN" smtClean="0"/>
              <a:pPr/>
              <a:t>16</a:t>
            </a:fld>
            <a:endParaRPr lang="en-IN"/>
          </a:p>
        </p:txBody>
      </p:sp>
      <p:pic>
        <p:nvPicPr>
          <p:cNvPr id="5" name="Content Placeholder 4"/>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26255" y="1825625"/>
            <a:ext cx="7739489" cy="4351338"/>
          </a:xfrm>
          <a:prstGeom prst="rect">
            <a:avLst/>
          </a:prstGeom>
          <a:noFill/>
          <a:ln>
            <a:noFill/>
          </a:ln>
        </p:spPr>
      </p:pic>
    </p:spTree>
    <p:extLst>
      <p:ext uri="{BB962C8B-B14F-4D97-AF65-F5344CB8AC3E}">
        <p14:creationId xmlns:p14="http://schemas.microsoft.com/office/powerpoint/2010/main" val="32839580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4CC5E9EF-9995-46C3-A752-B3A2D9286500}" type="slidenum">
              <a:rPr lang="en-IN" smtClean="0"/>
              <a:pPr/>
              <a:t>17</a:t>
            </a:fld>
            <a:endParaRPr lang="en-IN"/>
          </a:p>
        </p:txBody>
      </p:sp>
      <p:pic>
        <p:nvPicPr>
          <p:cNvPr id="5" name="Content Placeholder 4"/>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26255" y="1825625"/>
            <a:ext cx="7739489" cy="4351338"/>
          </a:xfrm>
          <a:prstGeom prst="rect">
            <a:avLst/>
          </a:prstGeom>
          <a:noFill/>
          <a:ln>
            <a:noFill/>
          </a:ln>
        </p:spPr>
      </p:pic>
    </p:spTree>
    <p:extLst>
      <p:ext uri="{BB962C8B-B14F-4D97-AF65-F5344CB8AC3E}">
        <p14:creationId xmlns:p14="http://schemas.microsoft.com/office/powerpoint/2010/main" val="442117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4CC5E9EF-9995-46C3-A752-B3A2D9286500}" type="slidenum">
              <a:rPr lang="en-IN" smtClean="0"/>
              <a:pPr/>
              <a:t>18</a:t>
            </a:fld>
            <a:endParaRPr lang="en-IN"/>
          </a:p>
        </p:txBody>
      </p:sp>
      <p:pic>
        <p:nvPicPr>
          <p:cNvPr id="5" name="Content Placeholder 4"/>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26255" y="1825625"/>
            <a:ext cx="7739489" cy="4351338"/>
          </a:xfrm>
          <a:prstGeom prst="rect">
            <a:avLst/>
          </a:prstGeom>
          <a:noFill/>
          <a:ln>
            <a:noFill/>
          </a:ln>
        </p:spPr>
      </p:pic>
    </p:spTree>
    <p:extLst>
      <p:ext uri="{BB962C8B-B14F-4D97-AF65-F5344CB8AC3E}">
        <p14:creationId xmlns:p14="http://schemas.microsoft.com/office/powerpoint/2010/main" val="4083688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4CC5E9EF-9995-46C3-A752-B3A2D9286500}" type="slidenum">
              <a:rPr lang="en-IN" smtClean="0"/>
              <a:pPr/>
              <a:t>19</a:t>
            </a:fld>
            <a:endParaRPr lang="en-IN"/>
          </a:p>
        </p:txBody>
      </p:sp>
      <p:pic>
        <p:nvPicPr>
          <p:cNvPr id="5" name="Content Placeholder 4"/>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26255" y="1825625"/>
            <a:ext cx="7739489" cy="4351338"/>
          </a:xfrm>
          <a:prstGeom prst="rect">
            <a:avLst/>
          </a:prstGeom>
          <a:noFill/>
          <a:ln>
            <a:noFill/>
          </a:ln>
        </p:spPr>
      </p:pic>
    </p:spTree>
    <p:extLst>
      <p:ext uri="{BB962C8B-B14F-4D97-AF65-F5344CB8AC3E}">
        <p14:creationId xmlns:p14="http://schemas.microsoft.com/office/powerpoint/2010/main" val="29922699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4CC5E9EF-9995-46C3-A752-B3A2D9286500}" type="slidenum">
              <a:rPr lang="en-IN" smtClean="0"/>
              <a:pPr/>
              <a:t>20</a:t>
            </a:fld>
            <a:endParaRPr lang="en-IN"/>
          </a:p>
        </p:txBody>
      </p:sp>
      <p:pic>
        <p:nvPicPr>
          <p:cNvPr id="5" name="Content Placeholder 4"/>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26255" y="1825625"/>
            <a:ext cx="7739489" cy="4351338"/>
          </a:xfrm>
          <a:prstGeom prst="rect">
            <a:avLst/>
          </a:prstGeom>
          <a:noFill/>
          <a:ln>
            <a:noFill/>
          </a:ln>
        </p:spPr>
      </p:pic>
    </p:spTree>
    <p:extLst>
      <p:ext uri="{BB962C8B-B14F-4D97-AF65-F5344CB8AC3E}">
        <p14:creationId xmlns:p14="http://schemas.microsoft.com/office/powerpoint/2010/main" val="38077525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b="1" dirty="0" smtClean="0">
                <a:latin typeface="Times New Roman" pitchFamily="18" charset="0"/>
                <a:cs typeface="Times New Roman" pitchFamily="18" charset="0"/>
              </a:rPr>
              <a:t>CONCLUSION</a:t>
            </a:r>
            <a:endParaRPr lang="en-US" sz="24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CC5E9EF-9995-46C3-A752-B3A2D9286500}" type="slidenum">
              <a:rPr lang="en-IN" smtClean="0"/>
              <a:pPr/>
              <a:t>21</a:t>
            </a:fld>
            <a:endParaRPr lang="en-IN"/>
          </a:p>
        </p:txBody>
      </p:sp>
      <p:sp>
        <p:nvSpPr>
          <p:cNvPr id="7" name="Content Placeholder 6"/>
          <p:cNvSpPr>
            <a:spLocks noGrp="1"/>
          </p:cNvSpPr>
          <p:nvPr>
            <p:ph idx="1"/>
          </p:nvPr>
        </p:nvSpPr>
        <p:spPr/>
        <p:txBody>
          <a:bodyPr>
            <a:normAutofit/>
          </a:bodyPr>
          <a:lstStyle/>
          <a:p>
            <a:pPr lvl="0" algn="just"/>
            <a:r>
              <a:rPr lang="en-US" sz="3600" dirty="0"/>
              <a:t>An accurate and efficient object detection system has been developed which achieves comparable metrics with the existing state-of-the-art system. This project uses recent techniques in the field of computer vision and deep learning.</a:t>
            </a:r>
          </a:p>
        </p:txBody>
      </p:sp>
    </p:spTree>
    <p:extLst>
      <p:ext uri="{BB962C8B-B14F-4D97-AF65-F5344CB8AC3E}">
        <p14:creationId xmlns:p14="http://schemas.microsoft.com/office/powerpoint/2010/main" val="961292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latin typeface="Times New Roman" panose="02020603050405020304" pitchFamily="18" charset="0"/>
                <a:cs typeface="Times New Roman" panose="02020603050405020304" pitchFamily="18" charset="0"/>
              </a:rPr>
              <a:t>References</a:t>
            </a:r>
            <a:r>
              <a:rPr lang="en-US" dirty="0" smtClean="0"/>
              <a:t>		</a:t>
            </a:r>
            <a:endParaRPr lang="en-IN" dirty="0"/>
          </a:p>
        </p:txBody>
      </p:sp>
      <p:sp>
        <p:nvSpPr>
          <p:cNvPr id="3" name="Content Placeholder 2"/>
          <p:cNvSpPr>
            <a:spLocks noGrp="1"/>
          </p:cNvSpPr>
          <p:nvPr>
            <p:ph idx="1"/>
          </p:nvPr>
        </p:nvSpPr>
        <p:spPr>
          <a:xfrm>
            <a:off x="838200" y="998310"/>
            <a:ext cx="10932886" cy="5859690"/>
          </a:xfrm>
        </p:spPr>
        <p:txBody>
          <a:bodyPr>
            <a:noAutofit/>
          </a:bodyPr>
          <a:lstStyle/>
          <a:p>
            <a:pPr marL="0" indent="0" algn="just">
              <a:buNone/>
            </a:pPr>
            <a:r>
              <a:rPr lang="en-US" sz="3200" dirty="0"/>
              <a:t>[1] Wei Liu and Alexander C. Berg, “SSD: Single Shot </a:t>
            </a:r>
            <a:r>
              <a:rPr lang="en-US" sz="3200" dirty="0" err="1"/>
              <a:t>MultiBox</a:t>
            </a:r>
            <a:r>
              <a:rPr lang="en-US" sz="3200" dirty="0"/>
              <a:t> Detector”,</a:t>
            </a:r>
          </a:p>
          <a:p>
            <a:pPr marL="0" indent="0" algn="just">
              <a:buNone/>
            </a:pPr>
            <a:r>
              <a:rPr lang="en-US" sz="3200" dirty="0"/>
              <a:t>Google Inc., Dec 2016.</a:t>
            </a:r>
          </a:p>
          <a:p>
            <a:pPr marL="0" indent="0" algn="just">
              <a:buNone/>
            </a:pPr>
            <a:r>
              <a:rPr lang="en-US" sz="3200" dirty="0"/>
              <a:t>[2] Andrew G. Howard, and </a:t>
            </a:r>
            <a:r>
              <a:rPr lang="en-US" sz="3200" dirty="0" err="1"/>
              <a:t>Hartwig</a:t>
            </a:r>
            <a:r>
              <a:rPr lang="en-US" sz="3200" dirty="0"/>
              <a:t> Adam, “</a:t>
            </a:r>
            <a:r>
              <a:rPr lang="en-US" sz="3200" dirty="0" err="1"/>
              <a:t>MobileNets</a:t>
            </a:r>
            <a:r>
              <a:rPr lang="en-US" sz="3200" dirty="0"/>
              <a:t>: Efficient</a:t>
            </a:r>
          </a:p>
          <a:p>
            <a:pPr marL="0" indent="0" algn="just">
              <a:buNone/>
            </a:pPr>
            <a:r>
              <a:rPr lang="en-US" sz="3200" dirty="0"/>
              <a:t>Convolutional Neural Networks for Mobile Vision Applications”, Google</a:t>
            </a:r>
          </a:p>
          <a:p>
            <a:pPr marL="0" indent="0" algn="just">
              <a:buNone/>
            </a:pPr>
            <a:r>
              <a:rPr lang="en-US" sz="3200" dirty="0"/>
              <a:t>Inc., 17 Apr 2017.</a:t>
            </a:r>
          </a:p>
          <a:p>
            <a:pPr marL="0" indent="0" algn="just">
              <a:buNone/>
            </a:pPr>
            <a:r>
              <a:rPr lang="en-US" sz="3200" dirty="0"/>
              <a:t>[3] Justin Lai, Sydney Maples, “Ammunition Detection: Developing a Real-</a:t>
            </a:r>
          </a:p>
          <a:p>
            <a:pPr marL="0" indent="0" algn="just">
              <a:buNone/>
            </a:pPr>
            <a:r>
              <a:rPr lang="en-US" sz="3200" dirty="0"/>
              <a:t>Time Gun Detection Classifier”, Stanford University, Feb </a:t>
            </a:r>
            <a:r>
              <a:rPr lang="en-US" sz="3200" dirty="0" smtClean="0"/>
              <a:t>2017</a:t>
            </a:r>
            <a:endParaRPr lang="en-US" sz="3200" dirty="0"/>
          </a:p>
        </p:txBody>
      </p:sp>
      <p:sp>
        <p:nvSpPr>
          <p:cNvPr id="4" name="Slide Number Placeholder 3"/>
          <p:cNvSpPr>
            <a:spLocks noGrp="1"/>
          </p:cNvSpPr>
          <p:nvPr>
            <p:ph type="sldNum" sz="quarter" idx="12"/>
          </p:nvPr>
        </p:nvSpPr>
        <p:spPr/>
        <p:txBody>
          <a:bodyPr/>
          <a:lstStyle/>
          <a:p>
            <a:fld id="{4CC5E9EF-9995-46C3-A752-B3A2D9286500}" type="slidenum">
              <a:rPr lang="en-IN" smtClean="0"/>
              <a:pPr/>
              <a:t>22</a:t>
            </a:fld>
            <a:endParaRPr lang="en-IN"/>
          </a:p>
        </p:txBody>
      </p:sp>
    </p:spTree>
    <p:extLst>
      <p:ext uri="{BB962C8B-B14F-4D97-AF65-F5344CB8AC3E}">
        <p14:creationId xmlns:p14="http://schemas.microsoft.com/office/powerpoint/2010/main" val="42154826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a:t>[4] </a:t>
            </a:r>
            <a:r>
              <a:rPr lang="en-US" dirty="0" err="1"/>
              <a:t>Shreyamsh</a:t>
            </a:r>
            <a:r>
              <a:rPr lang="en-US" dirty="0"/>
              <a:t> </a:t>
            </a:r>
            <a:r>
              <a:rPr lang="en-US" dirty="0" err="1"/>
              <a:t>Kamate</a:t>
            </a:r>
            <a:r>
              <a:rPr lang="en-US" dirty="0"/>
              <a:t>, “UAV: Application of Object Detection and</a:t>
            </a:r>
          </a:p>
          <a:p>
            <a:pPr marL="0" indent="0" algn="just">
              <a:buNone/>
            </a:pPr>
            <a:r>
              <a:rPr lang="en-US" dirty="0"/>
              <a:t>Tracking Techniques for Unmanned Aerial Vehicles”, Texas A&amp;M</a:t>
            </a:r>
          </a:p>
          <a:p>
            <a:pPr marL="0" indent="0" algn="just">
              <a:buNone/>
            </a:pPr>
            <a:r>
              <a:rPr lang="en-US" dirty="0"/>
              <a:t>University, 2015.</a:t>
            </a:r>
          </a:p>
          <a:p>
            <a:pPr marL="0" indent="0" algn="just">
              <a:buNone/>
            </a:pPr>
            <a:r>
              <a:rPr lang="en-US" dirty="0"/>
              <a:t>[5] Adrian </a:t>
            </a:r>
            <a:r>
              <a:rPr lang="en-US" dirty="0" err="1"/>
              <a:t>Rosebrock</a:t>
            </a:r>
            <a:r>
              <a:rPr lang="en-US" dirty="0"/>
              <a:t>, “Object detection with deep learning and </a:t>
            </a:r>
            <a:r>
              <a:rPr lang="en-US" dirty="0" err="1"/>
              <a:t>OpenCV</a:t>
            </a:r>
            <a:r>
              <a:rPr lang="en-US" dirty="0"/>
              <a:t>”,</a:t>
            </a:r>
          </a:p>
          <a:p>
            <a:pPr marL="0" indent="0" algn="just">
              <a:buNone/>
            </a:pPr>
            <a:r>
              <a:rPr lang="en-US" dirty="0" err="1"/>
              <a:t>pyimagesearch</a:t>
            </a:r>
            <a:r>
              <a:rPr lang="en-US" dirty="0"/>
              <a:t>.</a:t>
            </a:r>
          </a:p>
          <a:p>
            <a:pPr marL="0" indent="0" algn="just">
              <a:buNone/>
            </a:pPr>
            <a:r>
              <a:rPr lang="en-US" dirty="0"/>
              <a:t>[6] </a:t>
            </a:r>
            <a:r>
              <a:rPr lang="en-US" dirty="0" err="1"/>
              <a:t>Mohana</a:t>
            </a:r>
            <a:r>
              <a:rPr lang="en-US" dirty="0"/>
              <a:t> and H. V. R. </a:t>
            </a:r>
            <a:r>
              <a:rPr lang="en-US" dirty="0" err="1"/>
              <a:t>Aradhya</a:t>
            </a:r>
            <a:r>
              <a:rPr lang="en-US" dirty="0"/>
              <a:t>, "Elegant and efficient algorithms for real</a:t>
            </a:r>
          </a:p>
          <a:p>
            <a:pPr marL="0" indent="0" algn="just">
              <a:buNone/>
            </a:pPr>
            <a:r>
              <a:rPr lang="en-US" dirty="0"/>
              <a:t>time object detection, counting and classification for video surveillance</a:t>
            </a:r>
          </a:p>
          <a:p>
            <a:pPr marL="0" indent="0" algn="just">
              <a:buNone/>
            </a:pPr>
            <a:r>
              <a:rPr lang="en-US" dirty="0"/>
              <a:t>applications from single fixed camera," 2016 International Conference</a:t>
            </a:r>
          </a:p>
          <a:p>
            <a:pPr marL="0" indent="0" algn="just">
              <a:buNone/>
            </a:pPr>
            <a:r>
              <a:rPr lang="en-US" dirty="0"/>
              <a:t>on Circuits, Controls, Communications and Computing (I4C),</a:t>
            </a:r>
          </a:p>
          <a:p>
            <a:pPr marL="0" indent="0" algn="just">
              <a:buNone/>
            </a:pPr>
            <a:r>
              <a:rPr lang="en-US" dirty="0"/>
              <a:t>Bangalore, 2016, pp. 1-7.</a:t>
            </a:r>
            <a:endParaRPr lang="en-US" dirty="0"/>
          </a:p>
        </p:txBody>
      </p:sp>
      <p:sp>
        <p:nvSpPr>
          <p:cNvPr id="4" name="Slide Number Placeholder 3"/>
          <p:cNvSpPr>
            <a:spLocks noGrp="1"/>
          </p:cNvSpPr>
          <p:nvPr>
            <p:ph type="sldNum" sz="quarter" idx="12"/>
          </p:nvPr>
        </p:nvSpPr>
        <p:spPr/>
        <p:txBody>
          <a:bodyPr/>
          <a:lstStyle/>
          <a:p>
            <a:fld id="{4CC5E9EF-9995-46C3-A752-B3A2D9286500}" type="slidenum">
              <a:rPr lang="en-IN" smtClean="0"/>
              <a:pPr/>
              <a:t>23</a:t>
            </a:fld>
            <a:endParaRPr lang="en-IN"/>
          </a:p>
        </p:txBody>
      </p:sp>
    </p:spTree>
    <p:extLst>
      <p:ext uri="{BB962C8B-B14F-4D97-AF65-F5344CB8AC3E}">
        <p14:creationId xmlns:p14="http://schemas.microsoft.com/office/powerpoint/2010/main" val="249348949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2372" y="2498725"/>
            <a:ext cx="10515600" cy="1325563"/>
          </a:xfrm>
        </p:spPr>
        <p:txBody>
          <a:bodyPr>
            <a:normAutofit/>
          </a:bodyPr>
          <a:lstStyle/>
          <a:p>
            <a:pPr algn="ctr"/>
            <a:r>
              <a:rPr lang="en-US" sz="6000" dirty="0" smtClean="0">
                <a:latin typeface="Times New Roman" panose="02020603050405020304" pitchFamily="18" charset="0"/>
                <a:cs typeface="Times New Roman" panose="02020603050405020304" pitchFamily="18" charset="0"/>
              </a:rPr>
              <a:t>Thank you</a:t>
            </a:r>
            <a:endParaRPr lang="en-IN" sz="60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4CC5E9EF-9995-46C3-A752-B3A2D9286500}" type="slidenum">
              <a:rPr lang="en-IN" smtClean="0"/>
              <a:pPr/>
              <a:t>24</a:t>
            </a:fld>
            <a:endParaRPr lang="en-IN"/>
          </a:p>
        </p:txBody>
      </p:sp>
    </p:spTree>
    <p:extLst>
      <p:ext uri="{BB962C8B-B14F-4D97-AF65-F5344CB8AC3E}">
        <p14:creationId xmlns:p14="http://schemas.microsoft.com/office/powerpoint/2010/main" val="420123742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3523</TotalTime>
  <Words>751</Words>
  <Application>Microsoft Office PowerPoint</Application>
  <PresentationFormat>Custom</PresentationFormat>
  <Paragraphs>84</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Object Tracking Using Python from Video</vt:lpstr>
      <vt:lpstr>Synopsis </vt:lpstr>
      <vt:lpstr>Objective </vt:lpstr>
      <vt:lpstr>Introduction</vt:lpstr>
      <vt:lpstr>Literature Survey</vt:lpstr>
      <vt:lpstr>Existing System</vt:lpstr>
      <vt:lpstr>Proposing model</vt:lpstr>
      <vt:lpstr>Modules </vt:lpstr>
      <vt:lpstr>PowerPoint Presentation</vt:lpstr>
      <vt:lpstr>UML</vt:lpstr>
      <vt:lpstr>PowerPoint Presentation</vt:lpstr>
      <vt:lpstr>PowerPoint Presentation</vt:lpstr>
      <vt:lpstr>PowerPoint Presentation</vt:lpstr>
      <vt:lpstr>Screen Shots</vt:lpstr>
      <vt:lpstr>PowerPoint Presentation</vt:lpstr>
      <vt:lpstr>PowerPoint Presentation</vt:lpstr>
      <vt:lpstr>PowerPoint Presentation</vt:lpstr>
      <vt:lpstr>PowerPoint Presentation</vt:lpstr>
      <vt:lpstr>PowerPoint Presentation</vt:lpstr>
      <vt:lpstr>PowerPoint Presentation</vt:lpstr>
      <vt:lpstr>CONCLUSION</vt:lpstr>
      <vt:lpstr>References  </vt:lpstr>
      <vt:lpstr>PowerPoint Presentation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 Perspectives of an Environment for Sustaining Ecosystem from Species      Extinction</dc:title>
  <dc:creator>Sweety</dc:creator>
  <cp:lastModifiedBy>bobby1</cp:lastModifiedBy>
  <cp:revision>172</cp:revision>
  <dcterms:created xsi:type="dcterms:W3CDTF">2015-07-31T12:00:32Z</dcterms:created>
  <dcterms:modified xsi:type="dcterms:W3CDTF">2020-06-02T10:26:15Z</dcterms:modified>
</cp:coreProperties>
</file>