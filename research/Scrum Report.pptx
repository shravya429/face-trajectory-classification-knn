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  <p:sldMasterId id="2147483648" r:id="rId2"/>
  </p:sldMasterIdLst>
  <p:notesMasterIdLst>
    <p:notesMasterId r:id="rId9"/>
  </p:notesMasterIdLst>
  <p:sldIdLst>
    <p:sldId id="256" r:id="rId3"/>
    <p:sldId id="278" r:id="rId4"/>
    <p:sldId id="281" r:id="rId5"/>
    <p:sldId id="279" r:id="rId6"/>
    <p:sldId id="283" r:id="rId7"/>
    <p:sldId id="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55A7C-14D6-4091-80AE-408DC0001D57}" v="789" dt="2023-08-13T19:31:44.268"/>
    <p1510:client id="{2CE748C6-D562-46AF-A35D-B69A6E9E5DB1}" v="350" dt="2023-08-17T06:49:45.535"/>
    <p1510:client id="{4F553730-22A9-4D5F-B1AA-35386070B1F1}" v="116" dt="2023-06-09T20:03:18.531"/>
    <p1510:client id="{51CE8A20-9BCD-452C-9728-6C83015BE83D}" v="1829" dt="2023-06-09T18:14:51.742"/>
    <p1510:client id="{6C67184C-4D73-4A2D-A58F-7974FA502B86}" v="1155" dt="2021-09-01T21:33:22.234"/>
    <p1510:client id="{7628F742-22E4-4756-98C4-E5CF7D41E548}" v="131" dt="2021-09-01T19:49:42.055"/>
    <p1510:client id="{7A272F06-F315-467C-B901-05868720884D}" v="290" dt="2021-09-02T06:44:20.830"/>
    <p1510:client id="{7FF0230E-940A-4DDB-ADE5-BDB1134B1F04}" v="1287" dt="2021-09-01T15:55:34.150"/>
    <p1510:client id="{89585898-223D-47E4-B38C-A308AF2D357F}" v="427" dt="2023-08-17T07:02:15.786"/>
    <p1510:client id="{98417CBD-4565-46CE-B200-80FEF469DE0B}" v="887" dt="2023-09-19T21:35:57.609"/>
    <p1510:client id="{A8285C81-548E-4367-AFAC-2A007C5BF88B}" v="130" dt="2023-08-21T08:29:58.393"/>
    <p1510:client id="{CD154EBA-468F-44D1-86E9-7D2FE14C38CC}" v="214" dt="2023-09-19T22:01:56.418"/>
    <p1510:client id="{E3AFA5CA-3614-4E13-B980-97067D1E8C87}" v="43" dt="2023-08-21T08:37:55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01B2A-398E-45F9-B9B5-AEBE3A712D4D}" type="datetimeFigureOut">
              <a:t>9/19/2023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31590-A873-409B-8A7C-BAAC2D119E0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2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60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8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0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5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7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8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3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22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167" y="2125981"/>
            <a:ext cx="1037190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336" y="3840480"/>
            <a:ext cx="85415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112" y="1577340"/>
            <a:ext cx="53079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4156" y="1577340"/>
            <a:ext cx="53079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9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0112" y="274320"/>
            <a:ext cx="109820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112" y="1577340"/>
            <a:ext cx="109820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8764" y="6377940"/>
            <a:ext cx="390471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112" y="6377940"/>
            <a:ext cx="28065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5617" y="6377940"/>
            <a:ext cx="28065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93202">
        <a:defRPr>
          <a:latin typeface="+mn-lt"/>
          <a:ea typeface="+mn-ea"/>
          <a:cs typeface="+mn-cs"/>
        </a:defRPr>
      </a:lvl2pPr>
      <a:lvl3pPr marL="586405">
        <a:defRPr>
          <a:latin typeface="+mn-lt"/>
          <a:ea typeface="+mn-ea"/>
          <a:cs typeface="+mn-cs"/>
        </a:defRPr>
      </a:lvl3pPr>
      <a:lvl4pPr marL="879607">
        <a:defRPr>
          <a:latin typeface="+mn-lt"/>
          <a:ea typeface="+mn-ea"/>
          <a:cs typeface="+mn-cs"/>
        </a:defRPr>
      </a:lvl4pPr>
      <a:lvl5pPr marL="1172809">
        <a:defRPr>
          <a:latin typeface="+mn-lt"/>
          <a:ea typeface="+mn-ea"/>
          <a:cs typeface="+mn-cs"/>
        </a:defRPr>
      </a:lvl5pPr>
      <a:lvl6pPr marL="1466012">
        <a:defRPr>
          <a:latin typeface="+mn-lt"/>
          <a:ea typeface="+mn-ea"/>
          <a:cs typeface="+mn-cs"/>
        </a:defRPr>
      </a:lvl6pPr>
      <a:lvl7pPr marL="1759214">
        <a:defRPr>
          <a:latin typeface="+mn-lt"/>
          <a:ea typeface="+mn-ea"/>
          <a:cs typeface="+mn-cs"/>
        </a:defRPr>
      </a:lvl7pPr>
      <a:lvl8pPr marL="2052417">
        <a:defRPr>
          <a:latin typeface="+mn-lt"/>
          <a:ea typeface="+mn-ea"/>
          <a:cs typeface="+mn-cs"/>
        </a:defRPr>
      </a:lvl8pPr>
      <a:lvl9pPr marL="234561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93202">
        <a:defRPr>
          <a:latin typeface="+mn-lt"/>
          <a:ea typeface="+mn-ea"/>
          <a:cs typeface="+mn-cs"/>
        </a:defRPr>
      </a:lvl2pPr>
      <a:lvl3pPr marL="586405">
        <a:defRPr>
          <a:latin typeface="+mn-lt"/>
          <a:ea typeface="+mn-ea"/>
          <a:cs typeface="+mn-cs"/>
        </a:defRPr>
      </a:lvl3pPr>
      <a:lvl4pPr marL="879607">
        <a:defRPr>
          <a:latin typeface="+mn-lt"/>
          <a:ea typeface="+mn-ea"/>
          <a:cs typeface="+mn-cs"/>
        </a:defRPr>
      </a:lvl4pPr>
      <a:lvl5pPr marL="1172809">
        <a:defRPr>
          <a:latin typeface="+mn-lt"/>
          <a:ea typeface="+mn-ea"/>
          <a:cs typeface="+mn-cs"/>
        </a:defRPr>
      </a:lvl5pPr>
      <a:lvl6pPr marL="1466012">
        <a:defRPr>
          <a:latin typeface="+mn-lt"/>
          <a:ea typeface="+mn-ea"/>
          <a:cs typeface="+mn-cs"/>
        </a:defRPr>
      </a:lvl6pPr>
      <a:lvl7pPr marL="1759214">
        <a:defRPr>
          <a:latin typeface="+mn-lt"/>
          <a:ea typeface="+mn-ea"/>
          <a:cs typeface="+mn-cs"/>
        </a:defRPr>
      </a:lvl7pPr>
      <a:lvl8pPr marL="2052417">
        <a:defRPr>
          <a:latin typeface="+mn-lt"/>
          <a:ea typeface="+mn-ea"/>
          <a:cs typeface="+mn-cs"/>
        </a:defRPr>
      </a:lvl8pPr>
      <a:lvl9pPr marL="234561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5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17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19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EDBAC-67E1-4990-9D02-F324ADA54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369" y="2047965"/>
            <a:ext cx="4573206" cy="2345212"/>
          </a:xfrm>
        </p:spPr>
        <p:txBody>
          <a:bodyPr anchor="b">
            <a:noAutofit/>
          </a:bodyPr>
          <a:lstStyle/>
          <a:p>
            <a:pPr algn="l"/>
            <a:r>
              <a:rPr lang="en-US" sz="3300" dirty="0">
                <a:solidFill>
                  <a:srgbClr val="FFFFFF"/>
                </a:solidFill>
                <a:latin typeface="Cambria"/>
                <a:ea typeface="Cambria"/>
                <a:cs typeface="+mj-lt"/>
              </a:rPr>
              <a:t>Accurate  classification  of true  face trajectories  in  video using data based KNN algorithm</a:t>
            </a:r>
            <a:endParaRPr lang="en-US" sz="2800" dirty="0">
              <a:solidFill>
                <a:srgbClr val="E7E6E6"/>
              </a:solidFill>
              <a:latin typeface="Rockwel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10733-69BB-433E-8524-B828A3545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285" y="4883965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endParaRPr lang="en-US" sz="2000">
              <a:latin typeface="Rockwell"/>
              <a:cs typeface="Calibri"/>
            </a:endParaRPr>
          </a:p>
          <a:p>
            <a:pPr algn="l"/>
            <a:endParaRPr lang="en-US" sz="2000">
              <a:latin typeface="Rockwell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30781-5009-BB5D-7B02-6A5C2ECED2D1}"/>
              </a:ext>
            </a:extLst>
          </p:cNvPr>
          <p:cNvSpPr txBox="1"/>
          <p:nvPr/>
        </p:nvSpPr>
        <p:spPr>
          <a:xfrm>
            <a:off x="2146" y="4735132"/>
            <a:ext cx="4116947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Presented</a:t>
            </a:r>
            <a:r>
              <a:rPr lang="en-IN" sz="2000" b="1" spc="3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By:</a:t>
            </a:r>
          </a:p>
          <a:p>
            <a:endParaRPr lang="en-IN"/>
          </a:p>
          <a:p>
            <a:r>
              <a:rPr lang="en-IN" sz="2000" spc="60" dirty="0">
                <a:solidFill>
                  <a:srgbClr val="FFFFFF"/>
                </a:solidFill>
                <a:latin typeface="Cambria"/>
              </a:rPr>
              <a:t>S</a:t>
            </a:r>
            <a:r>
              <a:rPr lang="en-IN" sz="2000" spc="50" dirty="0">
                <a:solidFill>
                  <a:srgbClr val="FFFFFF"/>
                </a:solidFill>
                <a:latin typeface="Cambria"/>
              </a:rPr>
              <a:t>h</a:t>
            </a:r>
            <a:r>
              <a:rPr lang="en-IN" sz="2000" spc="-35" dirty="0">
                <a:solidFill>
                  <a:srgbClr val="FFFFFF"/>
                </a:solidFill>
                <a:latin typeface="Cambria"/>
              </a:rPr>
              <a:t>r</a:t>
            </a:r>
            <a:r>
              <a:rPr lang="en-IN" sz="2000" spc="20" dirty="0">
                <a:solidFill>
                  <a:srgbClr val="FFFFFF"/>
                </a:solidFill>
                <a:latin typeface="Cambria"/>
              </a:rPr>
              <a:t>a</a:t>
            </a:r>
            <a:r>
              <a:rPr lang="en-IN" sz="2000" spc="60" dirty="0">
                <a:solidFill>
                  <a:srgbClr val="FFFFFF"/>
                </a:solidFill>
                <a:latin typeface="Cambria"/>
              </a:rPr>
              <a:t>vy</a:t>
            </a:r>
            <a:r>
              <a:rPr lang="en-IN" sz="2000" spc="95" dirty="0">
                <a:solidFill>
                  <a:srgbClr val="FFFFFF"/>
                </a:solidFill>
                <a:latin typeface="Cambria"/>
              </a:rPr>
              <a:t>a</a:t>
            </a:r>
            <a:r>
              <a:rPr lang="en-IN" sz="2000" dirty="0">
                <a:solidFill>
                  <a:srgbClr val="FFFFFF"/>
                </a:solidFill>
                <a:latin typeface="Cambria"/>
              </a:rPr>
              <a:t>  </a:t>
            </a:r>
            <a:r>
              <a:rPr lang="en-IN" sz="2000" spc="-85" dirty="0">
                <a:solidFill>
                  <a:srgbClr val="FFFFFF"/>
                </a:solidFill>
                <a:latin typeface="Cambria"/>
              </a:rPr>
              <a:t>P</a:t>
            </a:r>
            <a:r>
              <a:rPr lang="en-IN" sz="2000" spc="55" dirty="0">
                <a:solidFill>
                  <a:srgbClr val="FFFFFF"/>
                </a:solidFill>
                <a:latin typeface="Cambria"/>
              </a:rPr>
              <a:t>a</a:t>
            </a:r>
            <a:r>
              <a:rPr lang="en-IN" sz="2000" spc="80" dirty="0">
                <a:solidFill>
                  <a:srgbClr val="FFFFFF"/>
                </a:solidFill>
                <a:latin typeface="Cambria"/>
              </a:rPr>
              <a:t>r</a:t>
            </a:r>
            <a:r>
              <a:rPr lang="en-IN" sz="2000" spc="25" dirty="0">
                <a:solidFill>
                  <a:srgbClr val="FFFFFF"/>
                </a:solidFill>
                <a:latin typeface="Cambria"/>
              </a:rPr>
              <a:t>u</a:t>
            </a:r>
            <a:r>
              <a:rPr lang="en-IN" sz="2000" spc="75" dirty="0">
                <a:solidFill>
                  <a:srgbClr val="FFFFFF"/>
                </a:solidFill>
                <a:latin typeface="Cambria"/>
              </a:rPr>
              <a:t>s</a:t>
            </a:r>
            <a:r>
              <a:rPr lang="en-IN" sz="2000" spc="25" dirty="0">
                <a:solidFill>
                  <a:srgbClr val="FFFFFF"/>
                </a:solidFill>
                <a:latin typeface="Cambria"/>
              </a:rPr>
              <a:t>h</a:t>
            </a:r>
            <a:r>
              <a:rPr lang="en-IN" sz="2000" spc="95" dirty="0">
                <a:solidFill>
                  <a:srgbClr val="FFFFFF"/>
                </a:solidFill>
                <a:latin typeface="Cambria"/>
              </a:rPr>
              <a:t>a</a:t>
            </a:r>
            <a:endParaRPr lang="en-IN" sz="2000" spc="110" dirty="0">
              <a:solidFill>
                <a:srgbClr val="FFFFFF"/>
              </a:solidFill>
              <a:latin typeface="Cambria"/>
            </a:endParaRPr>
          </a:p>
          <a:p>
            <a:r>
              <a:rPr lang="en-IN" sz="2000" spc="95" dirty="0">
                <a:solidFill>
                  <a:srgbClr val="FFFFFF"/>
                </a:solidFill>
                <a:latin typeface="Cambria"/>
              </a:rPr>
              <a:t>(</a:t>
            </a:r>
            <a:r>
              <a:rPr lang="en-IN" spc="95" dirty="0">
                <a:solidFill>
                  <a:srgbClr val="FFFFFF"/>
                </a:solidFill>
                <a:ea typeface="+mn-lt"/>
                <a:cs typeface="+mn-lt"/>
              </a:rPr>
              <a:t>parushas@mail.sacredheart.edu)</a:t>
            </a:r>
            <a:endParaRPr lang="en-IN" sz="2000" spc="110" dirty="0">
              <a:solidFill>
                <a:srgbClr val="FFFFFF"/>
              </a:solidFill>
              <a:latin typeface="Cambria"/>
              <a:ea typeface="Cambria"/>
            </a:endParaRPr>
          </a:p>
          <a:p>
            <a:r>
              <a:rPr lang="en-IN" sz="2000" spc="65" dirty="0">
                <a:solidFill>
                  <a:srgbClr val="FFFFFF"/>
                </a:solidFill>
                <a:latin typeface="Cambria"/>
              </a:rPr>
              <a:t>Mounika </a:t>
            </a:r>
            <a:r>
              <a:rPr lang="en-IN" sz="2000" spc="110" dirty="0">
                <a:solidFill>
                  <a:srgbClr val="FFFFFF"/>
                </a:solidFill>
                <a:latin typeface="Cambria"/>
              </a:rPr>
              <a:t>Seelam</a:t>
            </a:r>
            <a:endParaRPr lang="en-IN" sz="2000" spc="110" dirty="0">
              <a:solidFill>
                <a:srgbClr val="FFFFFF"/>
              </a:solidFill>
              <a:latin typeface="Cambria"/>
              <a:ea typeface="Cambria"/>
            </a:endParaRPr>
          </a:p>
          <a:p>
            <a:r>
              <a:rPr lang="en-IN" spc="110" dirty="0">
                <a:solidFill>
                  <a:srgbClr val="FFFFFF"/>
                </a:solidFill>
                <a:latin typeface="Cambria"/>
              </a:rPr>
              <a:t>(</a:t>
            </a:r>
            <a:r>
              <a:rPr lang="en-IN" spc="11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seelamm@mail.sacredheart.edu)</a:t>
            </a:r>
            <a:endParaRPr lang="en-IN" dirty="0"/>
          </a:p>
          <a:p>
            <a:endParaRPr lang="en-IN" sz="2000" spc="110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63A4A5-4654-9153-BB26-DA4CF7DDE3B5}"/>
              </a:ext>
            </a:extLst>
          </p:cNvPr>
          <p:cNvSpPr txBox="1"/>
          <p:nvPr/>
        </p:nvSpPr>
        <p:spPr>
          <a:xfrm>
            <a:off x="6965323" y="625161"/>
            <a:ext cx="303458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/>
                <a:ea typeface="Calibri"/>
                <a:cs typeface="Calibri"/>
              </a:rPr>
              <a:t>DESCRIPTION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9C1609-31CE-5BE6-62F3-C08FCF843B05}"/>
              </a:ext>
            </a:extLst>
          </p:cNvPr>
          <p:cNvCxnSpPr/>
          <p:nvPr/>
        </p:nvCxnSpPr>
        <p:spPr>
          <a:xfrm flipV="1">
            <a:off x="6421593" y="1266824"/>
            <a:ext cx="3865809" cy="1931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B0423BE-7B0A-E225-FA5C-FA616AF4299C}"/>
              </a:ext>
            </a:extLst>
          </p:cNvPr>
          <p:cNvSpPr txBox="1"/>
          <p:nvPr/>
        </p:nvSpPr>
        <p:spPr>
          <a:xfrm>
            <a:off x="5473520" y="1599127"/>
            <a:ext cx="6091706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In the realm of computer vision and facial recognition, the accurate classification of true face trajectories within video data is a critical task with numerous real-world applications. This groundbreaking project harnesses the power of a data-based K-Nearest Neighbors (KNN) algorithm to achieve exceptional accuracy in the identification and classification of genuine face trajectories within video streams.</a:t>
            </a:r>
          </a:p>
          <a:p>
            <a:endParaRPr lang="en-US" sz="2000" dirty="0">
              <a:solidFill>
                <a:srgbClr val="D1D5DB"/>
              </a:solidFill>
              <a:latin typeface="Times"/>
              <a:ea typeface="Calibri"/>
              <a:cs typeface="Calibri"/>
            </a:endParaRPr>
          </a:p>
          <a:p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Its successful implementation promises to significantly advance the state of the art in facial trajectory analysis and classification, with wide-ranging applications in both security and human-computer interaction domains.</a:t>
            </a:r>
            <a:endParaRPr lang="en-US" sz="2000">
              <a:latin typeface="Times"/>
              <a:cs typeface="Time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5D366F-C879-2FAF-6E33-17CAE9E63DAD}"/>
              </a:ext>
            </a:extLst>
          </p:cNvPr>
          <p:cNvCxnSpPr>
            <a:cxnSpLocks/>
          </p:cNvCxnSpPr>
          <p:nvPr/>
        </p:nvCxnSpPr>
        <p:spPr>
          <a:xfrm flipV="1">
            <a:off x="6421593" y="451162"/>
            <a:ext cx="3865809" cy="1931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1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878F5-D911-4E0E-87F3-67320E31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704" y="415816"/>
            <a:ext cx="5276573" cy="952839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Arial"/>
                <a:cs typeface="Arial"/>
              </a:rPr>
              <a:t>•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  <a:endParaRPr lang="en-US"/>
          </a:p>
          <a:p>
            <a:r>
              <a:rPr lang="en-US" sz="3200" dirty="0">
                <a:latin typeface="Arial"/>
                <a:cs typeface="Arial"/>
              </a:rPr>
              <a:t>•</a:t>
            </a:r>
            <a:r>
              <a:rPr lang="en-US" sz="3200" dirty="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Sprint 1: Project Backlog </a:t>
            </a:r>
            <a:endParaRPr lang="en-US" sz="3200" b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1C40B-5FBF-4452-96D7-4F2D6DBBA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693" y="1716126"/>
            <a:ext cx="5546304" cy="459013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40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" dirty="0">
              <a:solidFill>
                <a:srgbClr val="E8EAED"/>
              </a:solidFill>
              <a:latin typeface="Times"/>
              <a:cs typeface="Arial"/>
            </a:endParaRPr>
          </a:p>
          <a:p>
            <a:endParaRPr lang="en-US" sz="2000" dirty="0">
              <a:solidFill>
                <a:srgbClr val="FFFFFF">
                  <a:alpha val="80000"/>
                </a:srgbClr>
              </a:solidFill>
              <a:ea typeface="Calibri"/>
              <a:cs typeface="Calibri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D5A6E8-CD1B-4796-ABD1-A6F27F6C0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078879" y="208686"/>
            <a:ext cx="110436" cy="68543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38C97-C349-4FC7-BD31-4CE11BD9A91F}"/>
              </a:ext>
            </a:extLst>
          </p:cNvPr>
          <p:cNvSpPr/>
          <p:nvPr/>
        </p:nvSpPr>
        <p:spPr>
          <a:xfrm flipV="1">
            <a:off x="3522165" y="1332080"/>
            <a:ext cx="4641482" cy="6948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E2171-872C-8546-21D2-50AFE954B7B0}"/>
              </a:ext>
            </a:extLst>
          </p:cNvPr>
          <p:cNvSpPr/>
          <p:nvPr/>
        </p:nvSpPr>
        <p:spPr>
          <a:xfrm>
            <a:off x="3522166" y="457587"/>
            <a:ext cx="4641482" cy="6304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3630E5-36FC-6188-C02B-B4CF3B38FA0B}"/>
              </a:ext>
            </a:extLst>
          </p:cNvPr>
          <p:cNvSpPr/>
          <p:nvPr/>
        </p:nvSpPr>
        <p:spPr>
          <a:xfrm>
            <a:off x="6651401" y="2970191"/>
            <a:ext cx="5387662" cy="374560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dirty="0">
              <a:solidFill>
                <a:srgbClr val="FFFFFF"/>
              </a:solidFill>
              <a:latin typeface="Times"/>
              <a:ea typeface="Segoe UI"/>
              <a:cs typeface="Segoe UI"/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Times"/>
                <a:ea typeface="Segoe UI"/>
                <a:cs typeface="Segoe UI"/>
              </a:rPr>
              <a:t>3. Feature Extraction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Research and select appropriate features for face trajectory representation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Implement feature extraction algorithms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Validate extracted features to ensure accuracy </a:t>
            </a:r>
            <a:r>
              <a:rPr lang="en-US" dirty="0">
                <a:solidFill>
                  <a:srgbClr val="D1D5DB"/>
                </a:solidFill>
                <a:latin typeface="Times New Roman"/>
                <a:ea typeface="Calibri"/>
                <a:cs typeface="Calibri"/>
              </a:rPr>
              <a:t>.</a:t>
            </a:r>
            <a:r>
              <a:rPr lang="en-US" sz="2400" dirty="0">
                <a:solidFill>
                  <a:srgbClr val="FFFFFF"/>
                </a:solidFill>
                <a:latin typeface="Times"/>
                <a:ea typeface="Segoe UI"/>
                <a:cs typeface="Segoe UI"/>
              </a:rPr>
              <a:t>​</a:t>
            </a:r>
            <a:endParaRPr lang="en-US" dirty="0">
              <a:solidFill>
                <a:srgbClr val="FFFFFF"/>
              </a:solidFill>
              <a:latin typeface="Calibri" panose="020F0502020204030204"/>
              <a:ea typeface="Calibri"/>
              <a:cs typeface="Calibri"/>
            </a:endParaRPr>
          </a:p>
          <a:p>
            <a:endParaRPr lang="en-US" sz="2400" b="1" dirty="0">
              <a:solidFill>
                <a:srgbClr val="FFFFFF"/>
              </a:solidFill>
              <a:latin typeface="Times"/>
              <a:ea typeface="Segoe UI"/>
              <a:cs typeface="Segoe UI"/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Times"/>
                <a:ea typeface="Segoe UI"/>
                <a:cs typeface="Segoe UI"/>
              </a:rPr>
              <a:t>4. </a:t>
            </a:r>
            <a:r>
              <a:rPr lang="en-US" sz="2400" b="1" dirty="0">
                <a:solidFill>
                  <a:srgbClr val="FFFFFF"/>
                </a:solidFill>
                <a:latin typeface="Times"/>
                <a:ea typeface="+mn-lt"/>
                <a:cs typeface="+mn-lt"/>
              </a:rPr>
              <a:t>KNN Algorithm Setup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Develop or select a KNN algorithm implementation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Choose an appropriate distance metric for feature vectors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Determine the initial value for the 'k' hyperparameter</a:t>
            </a:r>
            <a:endParaRPr lang="en-US" dirty="0">
              <a:latin typeface="Times New Roman"/>
              <a:cs typeface="Times New Roman"/>
            </a:endParaRPr>
          </a:p>
          <a:p>
            <a:endParaRPr lang="en-US" b="1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759994-6543-1767-F166-2644EB3B555C}"/>
              </a:ext>
            </a:extLst>
          </p:cNvPr>
          <p:cNvSpPr/>
          <p:nvPr/>
        </p:nvSpPr>
        <p:spPr>
          <a:xfrm>
            <a:off x="91226" y="1792311"/>
            <a:ext cx="6460900" cy="319825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dirty="0">
              <a:solidFill>
                <a:schemeClr val="bg1"/>
              </a:solidFill>
              <a:latin typeface="Times"/>
              <a:ea typeface="Calibri"/>
              <a:cs typeface="Calibri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"/>
                <a:ea typeface="Calibri"/>
                <a:cs typeface="Calibri"/>
              </a:rPr>
              <a:t>1. Project Initiation and Planning</a:t>
            </a:r>
            <a:endParaRPr lang="en-US" sz="2400" dirty="0">
              <a:solidFill>
                <a:schemeClr val="bg1"/>
              </a:solidFill>
              <a:latin typeface="Time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Define project scope and objectives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Identify stakeholders and their roles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Allocate resources (e.g., team members, computing resources)</a:t>
            </a:r>
            <a:endParaRPr lang="en-US">
              <a:latin typeface="Times New Roman"/>
              <a:cs typeface="Times New Roman"/>
            </a:endParaRPr>
          </a:p>
          <a:p>
            <a:endParaRPr lang="en-US" sz="2400" b="1" dirty="0">
              <a:solidFill>
                <a:schemeClr val="bg1"/>
              </a:solidFill>
              <a:latin typeface="Times"/>
              <a:ea typeface="Calibri"/>
              <a:cs typeface="Calibri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"/>
                <a:ea typeface="Calibri"/>
                <a:cs typeface="Calibri"/>
              </a:rPr>
              <a:t>2. Data Collection and Preprocessing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Gather a dataset of videos with labeled face trajectories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Preprocess videos to extract frames and detect faces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Align and normalize the face trajectories in each frame</a:t>
            </a:r>
            <a:endParaRPr lang="en-US" dirty="0">
              <a:latin typeface="Times New Roman"/>
              <a:cs typeface="Times New Roman"/>
            </a:endParaRPr>
          </a:p>
          <a:p>
            <a:endParaRPr lang="en-US" b="1" dirty="0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</p:txBody>
      </p:sp>
      <p:pic>
        <p:nvPicPr>
          <p:cNvPr id="15" name="Picture 14" descr="What is Data Collection? | Methods of Collecting Data - GeeksforGeeks">
            <a:extLst>
              <a:ext uri="{FF2B5EF4-FFF2-40B4-BE49-F238E27FC236}">
                <a16:creationId xmlns:a16="http://schemas.microsoft.com/office/drawing/2014/main" id="{C0EB79C9-EABE-93A2-6B06-ECA558E8A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76" y="5274636"/>
            <a:ext cx="1857375" cy="1095375"/>
          </a:xfrm>
          <a:prstGeom prst="rect">
            <a:avLst/>
          </a:prstGeom>
        </p:spPr>
      </p:pic>
      <p:pic>
        <p:nvPicPr>
          <p:cNvPr id="16" name="Picture 15" descr="What is a machine learning model? | Microsoft Learn">
            <a:extLst>
              <a:ext uri="{FF2B5EF4-FFF2-40B4-BE49-F238E27FC236}">
                <a16:creationId xmlns:a16="http://schemas.microsoft.com/office/drawing/2014/main" id="{2E4FD0DE-43BF-36F8-D667-C81E37E9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907" y="5273129"/>
            <a:ext cx="2743200" cy="1205713"/>
          </a:xfrm>
          <a:prstGeom prst="rect">
            <a:avLst/>
          </a:prstGeom>
        </p:spPr>
      </p:pic>
      <p:pic>
        <p:nvPicPr>
          <p:cNvPr id="17" name="Picture 16" descr="10 Tips to Standardizing Application Deployments | by Tj Blogumas | DevOps  Dudes | Medium">
            <a:extLst>
              <a:ext uri="{FF2B5EF4-FFF2-40B4-BE49-F238E27FC236}">
                <a16:creationId xmlns:a16="http://schemas.microsoft.com/office/drawing/2014/main" id="{F80461FE-8ABF-7937-6B57-60DB94271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512" y="1609128"/>
            <a:ext cx="2260243" cy="1267883"/>
          </a:xfrm>
          <a:prstGeom prst="rect">
            <a:avLst/>
          </a:prstGeom>
        </p:spPr>
      </p:pic>
      <p:pic>
        <p:nvPicPr>
          <p:cNvPr id="18" name="Picture 17" descr="6 Best Documentation Tools: A Curated List for 2023">
            <a:extLst>
              <a:ext uri="{FF2B5EF4-FFF2-40B4-BE49-F238E27FC236}">
                <a16:creationId xmlns:a16="http://schemas.microsoft.com/office/drawing/2014/main" id="{80B334BC-2C55-06F6-7B4B-AB1B9DB9B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484" y="1605566"/>
            <a:ext cx="2431962" cy="122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97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878F5-D911-4E0E-87F3-67320E31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310" y="190436"/>
            <a:ext cx="5276573" cy="952839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Arial"/>
                <a:cs typeface="Arial"/>
              </a:rPr>
              <a:t>•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  <a:endParaRPr lang="en-US"/>
          </a:p>
          <a:p>
            <a:r>
              <a:rPr lang="en-US" sz="3200" dirty="0">
                <a:latin typeface="Arial"/>
                <a:cs typeface="Arial"/>
              </a:rPr>
              <a:t>•</a:t>
            </a:r>
            <a:r>
              <a:rPr lang="en-US" sz="3300" dirty="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Sprint 1:  Sprint Backlog</a:t>
            </a:r>
            <a:r>
              <a:rPr lang="en-US" sz="3300" dirty="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 </a:t>
            </a:r>
            <a:endParaRPr lang="en-US" sz="33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1C40B-5FBF-4452-96D7-4F2D6DBBA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693" y="1716126"/>
            <a:ext cx="5546304" cy="459013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40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" dirty="0">
              <a:solidFill>
                <a:srgbClr val="E8EAED"/>
              </a:solidFill>
              <a:latin typeface="Times"/>
              <a:cs typeface="Arial"/>
            </a:endParaRPr>
          </a:p>
          <a:p>
            <a:endParaRPr lang="en-US" sz="2000" dirty="0">
              <a:solidFill>
                <a:srgbClr val="FFFFFF">
                  <a:alpha val="80000"/>
                </a:srgbClr>
              </a:solidFill>
              <a:ea typeface="Calibri"/>
              <a:cs typeface="Calibri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D5A6E8-CD1B-4796-ABD1-A6F27F6C0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078879" y="208686"/>
            <a:ext cx="110436" cy="68543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38C97-C349-4FC7-BD31-4CE11BD9A91F}"/>
              </a:ext>
            </a:extLst>
          </p:cNvPr>
          <p:cNvSpPr/>
          <p:nvPr/>
        </p:nvSpPr>
        <p:spPr>
          <a:xfrm flipV="1">
            <a:off x="3522165" y="1106700"/>
            <a:ext cx="4641482" cy="6948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E2171-872C-8546-21D2-50AFE954B7B0}"/>
              </a:ext>
            </a:extLst>
          </p:cNvPr>
          <p:cNvSpPr/>
          <p:nvPr/>
        </p:nvSpPr>
        <p:spPr>
          <a:xfrm>
            <a:off x="3522166" y="307333"/>
            <a:ext cx="4641482" cy="6304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43696-D33E-7661-098B-9BE6E491467A}"/>
              </a:ext>
            </a:extLst>
          </p:cNvPr>
          <p:cNvSpPr txBox="1"/>
          <p:nvPr/>
        </p:nvSpPr>
        <p:spPr>
          <a:xfrm>
            <a:off x="1476691" y="1336500"/>
            <a:ext cx="890177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mbria"/>
                <a:ea typeface="Cambria"/>
                <a:cs typeface="Calibri"/>
              </a:rPr>
              <a:t>Sprint 1: Week 1-2</a:t>
            </a:r>
            <a:r>
              <a:rPr lang="en-US" sz="2400" dirty="0">
                <a:solidFill>
                  <a:schemeClr val="bg1"/>
                </a:solidFill>
                <a:latin typeface="Cambria"/>
                <a:ea typeface="Cambria"/>
                <a:cs typeface="Calibri"/>
              </a:rPr>
              <a:t> </a:t>
            </a:r>
          </a:p>
          <a:p>
            <a:endParaRPr lang="en-US" sz="2400" dirty="0">
              <a:solidFill>
                <a:schemeClr val="bg1"/>
              </a:solidFill>
              <a:latin typeface="Cambria"/>
              <a:ea typeface="Cambria"/>
              <a:cs typeface="Calibri"/>
            </a:endParaRPr>
          </a:p>
          <a:p>
            <a:endParaRPr lang="en-US" sz="2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57AA17-1755-2FCA-FA98-7F6B0B72DA82}"/>
              </a:ext>
            </a:extLst>
          </p:cNvPr>
          <p:cNvSpPr/>
          <p:nvPr/>
        </p:nvSpPr>
        <p:spPr>
          <a:xfrm>
            <a:off x="960549" y="1867437"/>
            <a:ext cx="10281631" cy="1051774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rtl="0"/>
            <a:r>
              <a:rPr lang="en-US" sz="2400" b="1" dirty="0">
                <a:solidFill>
                  <a:srgbClr val="FFFFFF"/>
                </a:solidFill>
                <a:latin typeface="Cambria"/>
                <a:ea typeface="Segoe UI"/>
                <a:cs typeface="Segoe UI"/>
              </a:rPr>
              <a:t>Goal</a:t>
            </a:r>
            <a:r>
              <a:rPr lang="en-US" sz="2400" dirty="0">
                <a:solidFill>
                  <a:srgbClr val="D1D5DB"/>
                </a:solidFill>
                <a:latin typeface="Cambria"/>
                <a:ea typeface="Segoe UI"/>
                <a:cs typeface="Segoe UI"/>
              </a:rPr>
              <a:t>:</a:t>
            </a:r>
            <a:r>
              <a:rPr lang="en-US" sz="2400" dirty="0">
                <a:solidFill>
                  <a:srgbClr val="D1D5DB"/>
                </a:solidFill>
                <a:latin typeface="Calibri"/>
                <a:ea typeface="Segoe UI"/>
                <a:cs typeface="Segoe UI"/>
              </a:rPr>
              <a:t> </a:t>
            </a:r>
            <a:r>
              <a:rPr lang="en-US" sz="2400" dirty="0">
                <a:solidFill>
                  <a:srgbClr val="D1D5DB"/>
                </a:solidFill>
                <a:latin typeface="Times New Roman"/>
                <a:ea typeface="Segoe UI"/>
                <a:cs typeface="Segoe UI"/>
              </a:rPr>
              <a:t>Set up the project environment, gather and preprocess data, and begin                     implementing the KNN algorithm.​</a:t>
            </a:r>
            <a:endParaRPr lang="en-US" sz="2400" b="1">
              <a:solidFill>
                <a:schemeClr val="bg1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63145E-37BC-F5DF-4899-4EB812ACA225}"/>
              </a:ext>
            </a:extLst>
          </p:cNvPr>
          <p:cNvSpPr/>
          <p:nvPr/>
        </p:nvSpPr>
        <p:spPr>
          <a:xfrm>
            <a:off x="332705" y="3072148"/>
            <a:ext cx="5355462" cy="3541689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latin typeface="Bookman Old Style"/>
              <a:ea typeface="+mn-lt"/>
              <a:cs typeface="+mn-lt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 1.Project Setup</a:t>
            </a:r>
            <a:endParaRPr lang="en-US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Create a project repository.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Set up version control.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Define coding standards and guidelines.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endParaRPr lang="en-US" b="1" dirty="0">
              <a:latin typeface="Times New Roman"/>
              <a:ea typeface="+mn-lt"/>
              <a:cs typeface="+mn-lt"/>
            </a:endParaRPr>
          </a:p>
          <a:p>
            <a:r>
              <a:rPr lang="en-US" b="1" dirty="0">
                <a:latin typeface="Times New Roman"/>
                <a:ea typeface="+mn-lt"/>
                <a:cs typeface="+mn-lt"/>
              </a:rPr>
              <a:t>2.Data Collection and Preprocessing</a:t>
            </a:r>
            <a:endParaRPr lang="en-US" dirty="0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Acquire a sample dataset of videos with labeled face trajectories.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Develop scripts to extract frames and detect faces.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Implement initial alignment and normalization.</a:t>
            </a:r>
            <a:endParaRPr lang="en-US">
              <a:latin typeface="Times New Roman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99BCB1-AB3F-5F22-F0C8-CFA47E2735EF}"/>
              </a:ext>
            </a:extLst>
          </p:cNvPr>
          <p:cNvSpPr/>
          <p:nvPr/>
        </p:nvSpPr>
        <p:spPr>
          <a:xfrm>
            <a:off x="6096000" y="3072147"/>
            <a:ext cx="5505715" cy="354169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rgbClr val="D1D5DB"/>
                </a:solidFill>
                <a:latin typeface="Times New Roman"/>
                <a:ea typeface="Söhne"/>
                <a:cs typeface="Söhne"/>
              </a:rPr>
              <a:t>3.Feature Extraction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Söhne"/>
                <a:cs typeface="Söhne"/>
              </a:rPr>
              <a:t>Research and select initial features for face trajectory representation.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Söhne"/>
                <a:cs typeface="Söhne"/>
              </a:rPr>
              <a:t>Begin implementing feature extraction algorithms for the dataset.</a:t>
            </a:r>
            <a:endParaRPr lang="en-US" b="1" dirty="0">
              <a:solidFill>
                <a:srgbClr val="D1D5DB"/>
              </a:solidFill>
              <a:latin typeface="Söhne"/>
              <a:ea typeface="Söhne"/>
              <a:cs typeface="Söhne"/>
            </a:endParaRPr>
          </a:p>
          <a:p>
            <a:endParaRPr lang="en-US" b="1" dirty="0">
              <a:solidFill>
                <a:srgbClr val="D1D5DB"/>
              </a:solidFill>
              <a:latin typeface="Times New Roman"/>
              <a:ea typeface="Söhne"/>
              <a:cs typeface="Söhne"/>
            </a:endParaRPr>
          </a:p>
          <a:p>
            <a:r>
              <a:rPr lang="en-US" b="1" dirty="0">
                <a:solidFill>
                  <a:srgbClr val="D1D5DB"/>
                </a:solidFill>
                <a:latin typeface="Times New Roman"/>
                <a:ea typeface="Söhne"/>
                <a:cs typeface="Söhne"/>
              </a:rPr>
              <a:t>4.KNN Algorithm Setup</a:t>
            </a:r>
            <a:endParaRPr lang="en-US" dirty="0"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Söhne"/>
                <a:cs typeface="Söhne"/>
              </a:rPr>
              <a:t>Choose the KNN algorithm library or framework.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Söhne"/>
                <a:cs typeface="Söhne"/>
              </a:rPr>
              <a:t>Implement the basic structure for the KNN model.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Times New Roman"/>
                <a:ea typeface="Söhne"/>
                <a:cs typeface="Söhne"/>
              </a:rPr>
              <a:t>Select an initial distance metric and 'k' value.</a:t>
            </a:r>
            <a:endParaRPr lang="en-US">
              <a:latin typeface="Times New Roman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52215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878F5-D911-4E0E-87F3-67320E31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375" y="185492"/>
            <a:ext cx="4700129" cy="912029"/>
          </a:xfrm>
        </p:spPr>
        <p:txBody>
          <a:bodyPr anchor="t">
            <a:normAutofit fontScale="90000"/>
          </a:bodyPr>
          <a:lstStyle/>
          <a:p>
            <a:r>
              <a:rPr lang="en-US" sz="2000" dirty="0">
                <a:latin typeface="Arial"/>
                <a:cs typeface="Arial"/>
              </a:rPr>
              <a:t>•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  <a:endParaRPr lang="en-US"/>
          </a:p>
          <a:p>
            <a:r>
              <a:rPr lang="en-US" sz="3200" dirty="0">
                <a:solidFill>
                  <a:schemeClr val="bg1"/>
                </a:solidFill>
                <a:latin typeface="Times New Roman"/>
                <a:ea typeface="Calibri Light" panose="020F0302020204030204"/>
                <a:cs typeface="Times New Roman"/>
              </a:rPr>
              <a:t>Sprint 1:</a:t>
            </a:r>
            <a:r>
              <a:rPr lang="en-US" sz="3200" dirty="0">
                <a:solidFill>
                  <a:schemeClr val="bg1"/>
                </a:solidFill>
                <a:latin typeface="Times New Roman"/>
                <a:ea typeface="Calibri Light" panose="020F0302020204030204"/>
                <a:cs typeface="Calibri Light" panose="020F0302020204030204"/>
              </a:rPr>
              <a:t>Shippable features </a:t>
            </a:r>
            <a:endParaRPr lang="en-US" sz="3200">
              <a:solidFill>
                <a:schemeClr val="bg1"/>
              </a:solidFill>
              <a:latin typeface="Times New Roman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D5A6E8-CD1B-4796-ABD1-A6F27F6C0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078879" y="208686"/>
            <a:ext cx="110436" cy="68543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38C97-C349-4FC7-BD31-4CE11BD9A91F}"/>
              </a:ext>
            </a:extLst>
          </p:cNvPr>
          <p:cNvSpPr/>
          <p:nvPr/>
        </p:nvSpPr>
        <p:spPr>
          <a:xfrm flipV="1">
            <a:off x="3414701" y="1023805"/>
            <a:ext cx="4641482" cy="6948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E2171-872C-8546-21D2-50AFE954B7B0}"/>
              </a:ext>
            </a:extLst>
          </p:cNvPr>
          <p:cNvSpPr/>
          <p:nvPr/>
        </p:nvSpPr>
        <p:spPr>
          <a:xfrm>
            <a:off x="3414701" y="242939"/>
            <a:ext cx="4641482" cy="6304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103D0-8111-7766-2483-EDABFB73CE22}"/>
              </a:ext>
            </a:extLst>
          </p:cNvPr>
          <p:cNvSpPr/>
          <p:nvPr/>
        </p:nvSpPr>
        <p:spPr>
          <a:xfrm>
            <a:off x="338071" y="1298620"/>
            <a:ext cx="11655377" cy="94445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dirty="0">
                <a:solidFill>
                  <a:srgbClr val="D1D5DB"/>
                </a:solidFill>
                <a:latin typeface="Times New Roman"/>
                <a:ea typeface="+mn-lt"/>
                <a:cs typeface="+mn-lt"/>
              </a:rPr>
              <a:t> The focus should be on setting up the project, acquiring and preprocessing data, and starting the implementation of the KNN algorithm. 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4D9E91-660C-545D-5BBF-F931D1485AC5}"/>
              </a:ext>
            </a:extLst>
          </p:cNvPr>
          <p:cNvSpPr/>
          <p:nvPr/>
        </p:nvSpPr>
        <p:spPr>
          <a:xfrm>
            <a:off x="150254" y="3082881"/>
            <a:ext cx="5130082" cy="1631323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Wingdings"/>
              <a:buChar char="Ø"/>
            </a:pPr>
            <a:r>
              <a:rPr lang="en-US" sz="2400" b="1" dirty="0">
                <a:latin typeface="Times"/>
                <a:ea typeface="Söhne"/>
                <a:cs typeface="Söhne"/>
              </a:rPr>
              <a:t>Project Setup</a:t>
            </a:r>
            <a:endParaRPr lang="en-US" sz="2400">
              <a:latin typeface="Times"/>
              <a:cs typeface="Times New Roman"/>
            </a:endParaRPr>
          </a:p>
          <a:p>
            <a:pPr marL="171450" indent="-171450">
              <a:buFont typeface="Wingdings"/>
              <a:buChar char="Ø"/>
            </a:pPr>
            <a:r>
              <a:rPr lang="en-US" sz="2400" b="1" dirty="0">
                <a:latin typeface="Times"/>
                <a:ea typeface="+mn-lt"/>
                <a:cs typeface="+mn-lt"/>
              </a:rPr>
              <a:t>Data Collection and Preprocessing</a:t>
            </a:r>
            <a:endParaRPr lang="en-US" sz="2400">
              <a:latin typeface="Times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400" b="1" dirty="0">
                <a:latin typeface="Times"/>
                <a:ea typeface="+mn-lt"/>
                <a:cs typeface="+mn-lt"/>
              </a:rPr>
              <a:t>Feature Extraction </a:t>
            </a:r>
          </a:p>
          <a:p>
            <a:pPr marL="171450" indent="-171450">
              <a:buFont typeface="Wingdings"/>
              <a:buChar char="Ø"/>
            </a:pPr>
            <a:r>
              <a:rPr lang="en-US" sz="2400" b="1" dirty="0">
                <a:latin typeface="Times"/>
                <a:ea typeface="+mn-lt"/>
                <a:cs typeface="+mn-lt"/>
              </a:rPr>
              <a:t>KNN Algorithm Setup</a:t>
            </a:r>
            <a:endParaRPr lang="en-US" sz="2400" dirty="0">
              <a:latin typeface="Time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B34F3-19BF-7E43-82BB-C9106DC1D6F0}"/>
              </a:ext>
            </a:extLst>
          </p:cNvPr>
          <p:cNvSpPr txBox="1"/>
          <p:nvPr/>
        </p:nvSpPr>
        <p:spPr>
          <a:xfrm>
            <a:off x="152400" y="2556456"/>
            <a:ext cx="51901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solidFill>
                  <a:srgbClr val="D1D5DB"/>
                </a:solidFill>
                <a:latin typeface="Times New Roman"/>
              </a:rPr>
              <a:t>Here are the shippable features for Sprint 1</a:t>
            </a:r>
            <a:r>
              <a:rPr lang="en-US" sz="2400" dirty="0">
                <a:solidFill>
                  <a:srgbClr val="D1D5DB"/>
                </a:solidFill>
                <a:latin typeface="Times New Roman"/>
              </a:rPr>
              <a:t>:</a:t>
            </a:r>
            <a:r>
              <a:rPr lang="en-US" sz="2400" dirty="0">
                <a:solidFill>
                  <a:srgbClr val="D1D5DB"/>
                </a:solidFill>
                <a:latin typeface="Times New Roman"/>
                <a:cs typeface="Times New Roman"/>
              </a:rPr>
              <a:t>​</a:t>
            </a:r>
            <a:endParaRPr lang="en-US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236AB6-6E9F-3BFF-2512-061496DE82FF}"/>
              </a:ext>
            </a:extLst>
          </p:cNvPr>
          <p:cNvSpPr/>
          <p:nvPr/>
        </p:nvSpPr>
        <p:spPr>
          <a:xfrm>
            <a:off x="5739147" y="3292164"/>
            <a:ext cx="5956478" cy="313385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Bookman Old Style"/>
                <a:ea typeface="Söhne"/>
                <a:cs typeface="Söhne"/>
              </a:rPr>
              <a:t>Code for data collection, preprocessing, and initial feature extraction is written and functional.</a:t>
            </a:r>
            <a:endParaRPr lang="en-US" dirty="0">
              <a:latin typeface="Bookman Old Style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Bookman Old Style"/>
                <a:ea typeface="Söhne"/>
                <a:cs typeface="Söhne"/>
              </a:rPr>
              <a:t>Basic KNN algorithm setup is implemented, including distance metric and 'k' value.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Bookman Old Style"/>
                <a:ea typeface="Söhne"/>
                <a:cs typeface="Söhne"/>
              </a:rPr>
              <a:t>Code is documented with comments.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Bookman Old Style"/>
                <a:ea typeface="Söhne"/>
                <a:cs typeface="Söhne"/>
              </a:rPr>
              <a:t>Code is pushed to the version control repository.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D1D5DB"/>
                </a:solidFill>
                <a:latin typeface="Bookman Old Style"/>
                <a:ea typeface="Söhne"/>
                <a:cs typeface="Söhne"/>
              </a:rPr>
              <a:t>Initial project setup and coding standards are defined and documented.</a:t>
            </a:r>
            <a:endParaRPr lang="en-US" dirty="0">
              <a:latin typeface="Bookman Old Style"/>
              <a:cs typeface="Times New Roman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89634D6-E6A9-21E7-4180-DC6235C276F5}"/>
              </a:ext>
            </a:extLst>
          </p:cNvPr>
          <p:cNvCxnSpPr/>
          <p:nvPr/>
        </p:nvCxnSpPr>
        <p:spPr>
          <a:xfrm flipH="1">
            <a:off x="5404164" y="2402311"/>
            <a:ext cx="8584" cy="412338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0ACA39-7B69-EC41-B427-97148E5AB0A3}"/>
              </a:ext>
            </a:extLst>
          </p:cNvPr>
          <p:cNvCxnSpPr>
            <a:cxnSpLocks/>
          </p:cNvCxnSpPr>
          <p:nvPr/>
        </p:nvCxnSpPr>
        <p:spPr>
          <a:xfrm flipH="1">
            <a:off x="5543685" y="2541832"/>
            <a:ext cx="8584" cy="412338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1573A5-07DB-0E4B-AC75-DC9D0AE8AC80}"/>
              </a:ext>
            </a:extLst>
          </p:cNvPr>
          <p:cNvSpPr txBox="1"/>
          <p:nvPr/>
        </p:nvSpPr>
        <p:spPr>
          <a:xfrm>
            <a:off x="5593724" y="2492062"/>
            <a:ext cx="60917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/>
                <a:ea typeface="Calibri Light"/>
                <a:cs typeface="Calibri Light"/>
              </a:rPr>
              <a:t>Definition of Done (DoD) for Sprint 1:</a:t>
            </a:r>
          </a:p>
        </p:txBody>
      </p:sp>
    </p:spTree>
    <p:extLst>
      <p:ext uri="{BB962C8B-B14F-4D97-AF65-F5344CB8AC3E}">
        <p14:creationId xmlns:p14="http://schemas.microsoft.com/office/powerpoint/2010/main" val="170549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878F5-D911-4E0E-87F3-67320E31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2954" y="421606"/>
            <a:ext cx="4184976" cy="751043"/>
          </a:xfrm>
        </p:spPr>
        <p:txBody>
          <a:bodyPr anchor="t">
            <a:normAutofit fontScale="90000"/>
          </a:bodyPr>
          <a:lstStyle/>
          <a:p>
            <a:r>
              <a:rPr lang="en-US" sz="2000" dirty="0">
                <a:latin typeface="Arial"/>
                <a:cs typeface="Arial"/>
              </a:rPr>
              <a:t>•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  <a:endParaRPr lang="en-US"/>
          </a:p>
          <a:p>
            <a:r>
              <a:rPr lang="en-US" sz="3300" dirty="0">
                <a:solidFill>
                  <a:schemeClr val="bg2"/>
                </a:solidFill>
                <a:latin typeface="Times New Roman"/>
                <a:ea typeface="Calibri Light"/>
                <a:cs typeface="Calibri Light"/>
              </a:rPr>
              <a:t>Sprint</a:t>
            </a:r>
            <a:r>
              <a:rPr lang="en-US" sz="3200" dirty="0">
                <a:solidFill>
                  <a:schemeClr val="bg2"/>
                </a:solidFill>
                <a:latin typeface="Times New Roman"/>
                <a:ea typeface="Calibri Light"/>
                <a:cs typeface="Calibri Light"/>
              </a:rPr>
              <a:t> 1: Sprint</a:t>
            </a:r>
            <a:r>
              <a:rPr lang="en-US" sz="3300" dirty="0">
                <a:solidFill>
                  <a:schemeClr val="bg2"/>
                </a:solidFill>
                <a:latin typeface="Times New Roman"/>
                <a:ea typeface="Calibri Light"/>
                <a:cs typeface="Calibri Light"/>
              </a:rPr>
              <a:t> Review</a:t>
            </a:r>
            <a:r>
              <a:rPr lang="en-US" sz="3300" dirty="0">
                <a:solidFill>
                  <a:schemeClr val="bg2"/>
                </a:solidFill>
                <a:latin typeface="Calibri Light"/>
                <a:ea typeface="Calibri Light"/>
                <a:cs typeface="Calibri Light"/>
              </a:rPr>
              <a:t> </a:t>
            </a:r>
            <a:endParaRPr lang="en-US" sz="3300">
              <a:solidFill>
                <a:schemeClr val="bg2"/>
              </a:solidFill>
              <a:ea typeface="Calibri Light"/>
              <a:cs typeface="Calibri Light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D5A6E8-CD1B-4796-ABD1-A6F27F6C0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078879" y="208686"/>
            <a:ext cx="110436" cy="68543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38C97-C349-4FC7-BD31-4CE11BD9A91F}"/>
              </a:ext>
            </a:extLst>
          </p:cNvPr>
          <p:cNvSpPr/>
          <p:nvPr/>
        </p:nvSpPr>
        <p:spPr>
          <a:xfrm flipV="1">
            <a:off x="3393235" y="1259918"/>
            <a:ext cx="4641482" cy="6948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E2171-872C-8546-21D2-50AFE954B7B0}"/>
              </a:ext>
            </a:extLst>
          </p:cNvPr>
          <p:cNvSpPr/>
          <p:nvPr/>
        </p:nvSpPr>
        <p:spPr>
          <a:xfrm>
            <a:off x="3393235" y="511249"/>
            <a:ext cx="4641482" cy="6304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5A94DD-B6D3-53FA-F6D3-85168E2D995C}"/>
              </a:ext>
            </a:extLst>
          </p:cNvPr>
          <p:cNvSpPr/>
          <p:nvPr/>
        </p:nvSpPr>
        <p:spPr>
          <a:xfrm>
            <a:off x="491289" y="1711994"/>
            <a:ext cx="11219445" cy="439152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Arial"/>
              <a:buChar char="•"/>
            </a:pPr>
            <a:endParaRPr lang="en-US" sz="2000" dirty="0">
              <a:solidFill>
                <a:srgbClr val="D1D5DB"/>
              </a:solidFill>
              <a:latin typeface="Times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Identify specific features or components that are not functioning as expected.</a:t>
            </a:r>
            <a:endParaRPr lang="en-US" sz="2000" dirty="0">
              <a:latin typeface="Times"/>
              <a:cs typeface="Times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Determine whether any technical issues or bugs were encountered during Sprint 1.</a:t>
            </a:r>
            <a:endParaRPr lang="en-US" sz="2000">
              <a:solidFill>
                <a:srgbClr val="D1D5DB"/>
              </a:solidFill>
              <a:latin typeface="Times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cs typeface="Times"/>
              </a:rPr>
              <a:t>Discuss any necessary adjustments or improvements required for the code, processes, or tools.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cs typeface="Times"/>
              </a:rPr>
              <a:t>Determine if there are any shortcomings in the initial implementation that need addressing. 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cs typeface="Times"/>
              </a:rPr>
              <a:t>Outline a plan to address and fix the identified issues.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cs typeface="Times"/>
              </a:rPr>
              <a:t>Assign tasks or responsibilities to team members for resolving issues or making improvements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cs typeface="Calibri"/>
              </a:rPr>
              <a:t>Evaluate whether the current approach, methodologies, or tools need to be adjusted based on the lessons learned in Sprint 1.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cs typeface="Calibri"/>
              </a:rPr>
              <a:t>Discuss whether there are better alternatives to the existing strategies.</a:t>
            </a:r>
            <a:endParaRPr lang="en-US" sz="2000">
              <a:latin typeface="Times"/>
              <a:cs typeface="Times"/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cs typeface="Calibri"/>
              </a:rPr>
              <a:t>Prioritize backlog items to reflect the most critical features or tasks that need attention in subsequent sprints.</a:t>
            </a:r>
            <a:endParaRPr lang="en-US" sz="2000">
              <a:latin typeface="Times"/>
              <a:cs typeface="Times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rgbClr val="D1D5DB"/>
              </a:solidFill>
              <a:latin typeface="Time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271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878F5-D911-4E0E-87F3-67320E31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927" y="411580"/>
            <a:ext cx="5478370" cy="911464"/>
          </a:xfrm>
        </p:spPr>
        <p:txBody>
          <a:bodyPr anchor="t">
            <a:normAutofit/>
          </a:bodyPr>
          <a:lstStyle/>
          <a:p>
            <a:r>
              <a:rPr lang="en-US" sz="2000" dirty="0">
                <a:latin typeface="Arial"/>
                <a:cs typeface="Arial"/>
              </a:rPr>
              <a:t>•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  <a:endParaRPr lang="en-US"/>
          </a:p>
          <a:p>
            <a:r>
              <a:rPr lang="en-US" sz="3200" dirty="0">
                <a:solidFill>
                  <a:schemeClr val="bg2"/>
                </a:solidFill>
                <a:latin typeface="Times New Roman"/>
                <a:cs typeface="Calibri Light"/>
              </a:rPr>
              <a:t>Sprint 1: Sprint Retrospective </a:t>
            </a:r>
            <a:endParaRPr lang="en-US" sz="3200" dirty="0">
              <a:solidFill>
                <a:schemeClr val="bg2"/>
              </a:solidFill>
              <a:latin typeface="Times New Roman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D5A6E8-CD1B-4796-ABD1-A6F27F6C0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078879" y="208686"/>
            <a:ext cx="110436" cy="68543"/>
          </a:xfrm>
          <a:custGeom>
            <a:avLst/>
            <a:gdLst>
              <a:gd name="connsiteX0" fmla="*/ 0 w 6858001"/>
              <a:gd name="connsiteY0" fmla="*/ 533314 h 874716"/>
              <a:gd name="connsiteX1" fmla="*/ 0 w 6858001"/>
              <a:gd name="connsiteY1" fmla="*/ 69206 h 874716"/>
              <a:gd name="connsiteX2" fmla="*/ 21486 w 6858001"/>
              <a:gd name="connsiteY2" fmla="*/ 71924 h 874716"/>
              <a:gd name="connsiteX3" fmla="*/ 228948 w 6858001"/>
              <a:gd name="connsiteY3" fmla="*/ 88116 h 874716"/>
              <a:gd name="connsiteX4" fmla="*/ 313533 w 6858001"/>
              <a:gd name="connsiteY4" fmla="*/ 62779 h 874716"/>
              <a:gd name="connsiteX5" fmla="*/ 338870 w 6858001"/>
              <a:gd name="connsiteY5" fmla="*/ 62207 h 874716"/>
              <a:gd name="connsiteX6" fmla="*/ 395640 w 6858001"/>
              <a:gd name="connsiteY6" fmla="*/ 72114 h 874716"/>
              <a:gd name="connsiteX7" fmla="*/ 512802 w 6858001"/>
              <a:gd name="connsiteY7" fmla="*/ 65446 h 874716"/>
              <a:gd name="connsiteX8" fmla="*/ 556047 w 6858001"/>
              <a:gd name="connsiteY8" fmla="*/ 55349 h 874716"/>
              <a:gd name="connsiteX9" fmla="*/ 580050 w 6858001"/>
              <a:gd name="connsiteY9" fmla="*/ 48871 h 874716"/>
              <a:gd name="connsiteX10" fmla="*/ 703308 w 6858001"/>
              <a:gd name="connsiteY10" fmla="*/ 30964 h 874716"/>
              <a:gd name="connsiteX11" fmla="*/ 758174 w 6858001"/>
              <a:gd name="connsiteY11" fmla="*/ 11724 h 874716"/>
              <a:gd name="connsiteX12" fmla="*/ 773035 w 6858001"/>
              <a:gd name="connsiteY12" fmla="*/ 8866 h 874716"/>
              <a:gd name="connsiteX13" fmla="*/ 854379 w 6858001"/>
              <a:gd name="connsiteY13" fmla="*/ 16866 h 874716"/>
              <a:gd name="connsiteX14" fmla="*/ 915343 w 6858001"/>
              <a:gd name="connsiteY14" fmla="*/ 47919 h 874716"/>
              <a:gd name="connsiteX15" fmla="*/ 927155 w 6858001"/>
              <a:gd name="connsiteY15" fmla="*/ 58397 h 874716"/>
              <a:gd name="connsiteX16" fmla="*/ 1097087 w 6858001"/>
              <a:gd name="connsiteY16" fmla="*/ 54777 h 874716"/>
              <a:gd name="connsiteX17" fmla="*/ 1123185 w 6858001"/>
              <a:gd name="connsiteY17" fmla="*/ 50395 h 874716"/>
              <a:gd name="connsiteX18" fmla="*/ 1249302 w 6858001"/>
              <a:gd name="connsiteY18" fmla="*/ 68684 h 874716"/>
              <a:gd name="connsiteX19" fmla="*/ 1286069 w 6858001"/>
              <a:gd name="connsiteY19" fmla="*/ 72304 h 874716"/>
              <a:gd name="connsiteX20" fmla="*/ 1417899 w 6858001"/>
              <a:gd name="connsiteY20" fmla="*/ 88688 h 874716"/>
              <a:gd name="connsiteX21" fmla="*/ 1436568 w 6858001"/>
              <a:gd name="connsiteY21" fmla="*/ 73448 h 874716"/>
              <a:gd name="connsiteX22" fmla="*/ 1490292 w 6858001"/>
              <a:gd name="connsiteY22" fmla="*/ 35154 h 874716"/>
              <a:gd name="connsiteX23" fmla="*/ 1596213 w 6858001"/>
              <a:gd name="connsiteY23" fmla="*/ 1245 h 874716"/>
              <a:gd name="connsiteX24" fmla="*/ 1624980 w 6858001"/>
              <a:gd name="connsiteY24" fmla="*/ 3150 h 874716"/>
              <a:gd name="connsiteX25" fmla="*/ 1697753 w 6858001"/>
              <a:gd name="connsiteY25" fmla="*/ 59731 h 874716"/>
              <a:gd name="connsiteX26" fmla="*/ 1733188 w 6858001"/>
              <a:gd name="connsiteY26" fmla="*/ 82400 h 874716"/>
              <a:gd name="connsiteX27" fmla="*/ 1833775 w 6858001"/>
              <a:gd name="connsiteY27" fmla="*/ 124121 h 874716"/>
              <a:gd name="connsiteX28" fmla="*/ 1842158 w 6858001"/>
              <a:gd name="connsiteY28" fmla="*/ 131742 h 874716"/>
              <a:gd name="connsiteX29" fmla="*/ 1916454 w 6858001"/>
              <a:gd name="connsiteY29" fmla="*/ 222233 h 874716"/>
              <a:gd name="connsiteX30" fmla="*/ 1933219 w 6858001"/>
              <a:gd name="connsiteY30" fmla="*/ 237663 h 874716"/>
              <a:gd name="connsiteX31" fmla="*/ 1953413 w 6858001"/>
              <a:gd name="connsiteY31" fmla="*/ 261668 h 874716"/>
              <a:gd name="connsiteX32" fmla="*/ 2016469 w 6858001"/>
              <a:gd name="connsiteY32" fmla="*/ 308151 h 874716"/>
              <a:gd name="connsiteX33" fmla="*/ 2094578 w 6858001"/>
              <a:gd name="connsiteY33" fmla="*/ 323010 h 874716"/>
              <a:gd name="connsiteX34" fmla="*/ 2188879 w 6858001"/>
              <a:gd name="connsiteY34" fmla="*/ 345681 h 874716"/>
              <a:gd name="connsiteX35" fmla="*/ 2228314 w 6858001"/>
              <a:gd name="connsiteY35" fmla="*/ 360921 h 874716"/>
              <a:gd name="connsiteX36" fmla="*/ 2334044 w 6858001"/>
              <a:gd name="connsiteY36" fmla="*/ 389878 h 874716"/>
              <a:gd name="connsiteX37" fmla="*/ 2409485 w 6858001"/>
              <a:gd name="connsiteY37" fmla="*/ 414263 h 874716"/>
              <a:gd name="connsiteX38" fmla="*/ 2518264 w 6858001"/>
              <a:gd name="connsiteY38" fmla="*/ 428552 h 874716"/>
              <a:gd name="connsiteX39" fmla="*/ 2571034 w 6858001"/>
              <a:gd name="connsiteY39" fmla="*/ 429122 h 874716"/>
              <a:gd name="connsiteX40" fmla="*/ 2668001 w 6858001"/>
              <a:gd name="connsiteY40" fmla="*/ 502276 h 874716"/>
              <a:gd name="connsiteX41" fmla="*/ 2745348 w 6858001"/>
              <a:gd name="connsiteY41" fmla="*/ 550666 h 874716"/>
              <a:gd name="connsiteX42" fmla="*/ 2826694 w 6858001"/>
              <a:gd name="connsiteY42" fmla="*/ 527233 h 874716"/>
              <a:gd name="connsiteX43" fmla="*/ 2848793 w 6858001"/>
              <a:gd name="connsiteY43" fmla="*/ 505134 h 874716"/>
              <a:gd name="connsiteX44" fmla="*/ 2982148 w 6858001"/>
              <a:gd name="connsiteY44" fmla="*/ 484179 h 874716"/>
              <a:gd name="connsiteX45" fmla="*/ 3172654 w 6858001"/>
              <a:gd name="connsiteY45" fmla="*/ 483417 h 874716"/>
              <a:gd name="connsiteX46" fmla="*/ 3489467 w 6858001"/>
              <a:gd name="connsiteY46" fmla="*/ 435790 h 874716"/>
              <a:gd name="connsiteX47" fmla="*/ 3544713 w 6858001"/>
              <a:gd name="connsiteY47" fmla="*/ 413691 h 874716"/>
              <a:gd name="connsiteX48" fmla="*/ 3606817 w 6858001"/>
              <a:gd name="connsiteY48" fmla="*/ 408167 h 874716"/>
              <a:gd name="connsiteX49" fmla="*/ 3630632 w 6858001"/>
              <a:gd name="connsiteY49" fmla="*/ 421693 h 874716"/>
              <a:gd name="connsiteX50" fmla="*/ 3734837 w 6858001"/>
              <a:gd name="connsiteY50" fmla="*/ 441886 h 874716"/>
              <a:gd name="connsiteX51" fmla="*/ 3754652 w 6858001"/>
              <a:gd name="connsiteY51" fmla="*/ 442268 h 874716"/>
              <a:gd name="connsiteX52" fmla="*/ 3822472 w 6858001"/>
              <a:gd name="connsiteY52" fmla="*/ 433694 h 874716"/>
              <a:gd name="connsiteX53" fmla="*/ 3885338 w 6858001"/>
              <a:gd name="connsiteY53" fmla="*/ 428742 h 874716"/>
              <a:gd name="connsiteX54" fmla="*/ 4043839 w 6858001"/>
              <a:gd name="connsiteY54" fmla="*/ 444934 h 874716"/>
              <a:gd name="connsiteX55" fmla="*/ 4165383 w 6858001"/>
              <a:gd name="connsiteY55" fmla="*/ 441124 h 874716"/>
              <a:gd name="connsiteX56" fmla="*/ 4221391 w 6858001"/>
              <a:gd name="connsiteY56" fmla="*/ 444934 h 874716"/>
              <a:gd name="connsiteX57" fmla="*/ 4253014 w 6858001"/>
              <a:gd name="connsiteY57" fmla="*/ 450650 h 874716"/>
              <a:gd name="connsiteX58" fmla="*/ 4324645 w 6858001"/>
              <a:gd name="connsiteY58" fmla="*/ 490466 h 874716"/>
              <a:gd name="connsiteX59" fmla="*/ 4363890 w 6858001"/>
              <a:gd name="connsiteY59" fmla="*/ 499420 h 874716"/>
              <a:gd name="connsiteX60" fmla="*/ 4482004 w 6858001"/>
              <a:gd name="connsiteY60" fmla="*/ 498658 h 874716"/>
              <a:gd name="connsiteX61" fmla="*/ 4659174 w 6858001"/>
              <a:gd name="connsiteY61" fmla="*/ 438648 h 874716"/>
              <a:gd name="connsiteX62" fmla="*/ 4677655 w 6858001"/>
              <a:gd name="connsiteY62" fmla="*/ 430646 h 874716"/>
              <a:gd name="connsiteX63" fmla="*/ 4767764 w 6858001"/>
              <a:gd name="connsiteY63" fmla="*/ 420739 h 874716"/>
              <a:gd name="connsiteX64" fmla="*/ 4828916 w 6858001"/>
              <a:gd name="connsiteY64" fmla="*/ 434266 h 874716"/>
              <a:gd name="connsiteX65" fmla="*/ 4912168 w 6858001"/>
              <a:gd name="connsiteY65" fmla="*/ 462271 h 874716"/>
              <a:gd name="connsiteX66" fmla="*/ 4987037 w 6858001"/>
              <a:gd name="connsiteY66" fmla="*/ 485703 h 874716"/>
              <a:gd name="connsiteX67" fmla="*/ 5041521 w 6858001"/>
              <a:gd name="connsiteY67" fmla="*/ 512182 h 874716"/>
              <a:gd name="connsiteX68" fmla="*/ 5166113 w 6858001"/>
              <a:gd name="connsiteY68" fmla="*/ 531615 h 874716"/>
              <a:gd name="connsiteX69" fmla="*/ 5179067 w 6858001"/>
              <a:gd name="connsiteY69" fmla="*/ 534853 h 874716"/>
              <a:gd name="connsiteX70" fmla="*/ 5272796 w 6858001"/>
              <a:gd name="connsiteY70" fmla="*/ 511230 h 874716"/>
              <a:gd name="connsiteX71" fmla="*/ 5385384 w 6858001"/>
              <a:gd name="connsiteY71" fmla="*/ 487227 h 874716"/>
              <a:gd name="connsiteX72" fmla="*/ 5425582 w 6858001"/>
              <a:gd name="connsiteY72" fmla="*/ 495418 h 874716"/>
              <a:gd name="connsiteX73" fmla="*/ 5480637 w 6858001"/>
              <a:gd name="connsiteY73" fmla="*/ 507040 h 874716"/>
              <a:gd name="connsiteX74" fmla="*/ 5531693 w 6858001"/>
              <a:gd name="connsiteY74" fmla="*/ 500944 h 874716"/>
              <a:gd name="connsiteX75" fmla="*/ 5562746 w 6858001"/>
              <a:gd name="connsiteY75" fmla="*/ 500372 h 874716"/>
              <a:gd name="connsiteX76" fmla="*/ 5704483 w 6858001"/>
              <a:gd name="connsiteY76" fmla="*/ 571620 h 874716"/>
              <a:gd name="connsiteX77" fmla="*/ 5740488 w 6858001"/>
              <a:gd name="connsiteY77" fmla="*/ 577526 h 874716"/>
              <a:gd name="connsiteX78" fmla="*/ 5760873 w 6858001"/>
              <a:gd name="connsiteY78" fmla="*/ 586291 h 874716"/>
              <a:gd name="connsiteX79" fmla="*/ 5883751 w 6858001"/>
              <a:gd name="connsiteY79" fmla="*/ 674686 h 874716"/>
              <a:gd name="connsiteX80" fmla="*/ 5935949 w 6858001"/>
              <a:gd name="connsiteY80" fmla="*/ 692592 h 874716"/>
              <a:gd name="connsiteX81" fmla="*/ 5993291 w 6858001"/>
              <a:gd name="connsiteY81" fmla="*/ 688972 h 874716"/>
              <a:gd name="connsiteX82" fmla="*/ 6026440 w 6858001"/>
              <a:gd name="connsiteY82" fmla="*/ 682496 h 874716"/>
              <a:gd name="connsiteX83" fmla="*/ 6108738 w 6858001"/>
              <a:gd name="connsiteY83" fmla="*/ 626296 h 874716"/>
              <a:gd name="connsiteX84" fmla="*/ 6155602 w 6858001"/>
              <a:gd name="connsiteY84" fmla="*/ 628202 h 874716"/>
              <a:gd name="connsiteX85" fmla="*/ 6228756 w 6858001"/>
              <a:gd name="connsiteY85" fmla="*/ 666873 h 874716"/>
              <a:gd name="connsiteX86" fmla="*/ 6361539 w 6858001"/>
              <a:gd name="connsiteY86" fmla="*/ 684210 h 874716"/>
              <a:gd name="connsiteX87" fmla="*/ 6428979 w 6858001"/>
              <a:gd name="connsiteY87" fmla="*/ 630106 h 874716"/>
              <a:gd name="connsiteX88" fmla="*/ 6463840 w 6858001"/>
              <a:gd name="connsiteY88" fmla="*/ 578098 h 874716"/>
              <a:gd name="connsiteX89" fmla="*/ 6564620 w 6858001"/>
              <a:gd name="connsiteY89" fmla="*/ 517708 h 874716"/>
              <a:gd name="connsiteX90" fmla="*/ 6588625 w 6858001"/>
              <a:gd name="connsiteY90" fmla="*/ 540187 h 874716"/>
              <a:gd name="connsiteX91" fmla="*/ 6662541 w 6858001"/>
              <a:gd name="connsiteY91" fmla="*/ 549714 h 874716"/>
              <a:gd name="connsiteX92" fmla="*/ 6742552 w 6858001"/>
              <a:gd name="connsiteY92" fmla="*/ 548952 h 874716"/>
              <a:gd name="connsiteX93" fmla="*/ 6812063 w 6858001"/>
              <a:gd name="connsiteY93" fmla="*/ 568430 h 874716"/>
              <a:gd name="connsiteX94" fmla="*/ 6858001 w 6858001"/>
              <a:gd name="connsiteY94" fmla="*/ 562267 h 874716"/>
              <a:gd name="connsiteX95" fmla="*/ 6858001 w 6858001"/>
              <a:gd name="connsiteY95" fmla="*/ 734520 h 874716"/>
              <a:gd name="connsiteX96" fmla="*/ 6815516 w 6858001"/>
              <a:gd name="connsiteY96" fmla="*/ 744220 h 874716"/>
              <a:gd name="connsiteX97" fmla="*/ 6748458 w 6858001"/>
              <a:gd name="connsiteY97" fmla="*/ 763271 h 874716"/>
              <a:gd name="connsiteX98" fmla="*/ 6584812 w 6858001"/>
              <a:gd name="connsiteY98" fmla="*/ 784797 h 874716"/>
              <a:gd name="connsiteX99" fmla="*/ 6415833 w 6858001"/>
              <a:gd name="connsiteY99" fmla="*/ 805562 h 874716"/>
              <a:gd name="connsiteX100" fmla="*/ 6323058 w 6858001"/>
              <a:gd name="connsiteY100" fmla="*/ 812420 h 874716"/>
              <a:gd name="connsiteX101" fmla="*/ 6242093 w 6858001"/>
              <a:gd name="connsiteY101" fmla="*/ 823281 h 874716"/>
              <a:gd name="connsiteX102" fmla="*/ 6171605 w 6858001"/>
              <a:gd name="connsiteY102" fmla="*/ 830139 h 874716"/>
              <a:gd name="connsiteX103" fmla="*/ 6059397 w 6858001"/>
              <a:gd name="connsiteY103" fmla="*/ 844045 h 874716"/>
              <a:gd name="connsiteX104" fmla="*/ 6012723 w 6858001"/>
              <a:gd name="connsiteY104" fmla="*/ 847665 h 874716"/>
              <a:gd name="connsiteX105" fmla="*/ 5902610 w 6858001"/>
              <a:gd name="connsiteY105" fmla="*/ 847473 h 874716"/>
              <a:gd name="connsiteX106" fmla="*/ 5864318 w 6858001"/>
              <a:gd name="connsiteY106" fmla="*/ 845569 h 874716"/>
              <a:gd name="connsiteX107" fmla="*/ 5790592 w 6858001"/>
              <a:gd name="connsiteY107" fmla="*/ 821947 h 874716"/>
              <a:gd name="connsiteX108" fmla="*/ 5781830 w 6858001"/>
              <a:gd name="connsiteY108" fmla="*/ 820233 h 874716"/>
              <a:gd name="connsiteX109" fmla="*/ 5733440 w 6858001"/>
              <a:gd name="connsiteY109" fmla="*/ 810896 h 874716"/>
              <a:gd name="connsiteX110" fmla="*/ 5706959 w 6858001"/>
              <a:gd name="connsiteY110" fmla="*/ 807848 h 874716"/>
              <a:gd name="connsiteX111" fmla="*/ 5606372 w 6858001"/>
              <a:gd name="connsiteY111" fmla="*/ 788417 h 874716"/>
              <a:gd name="connsiteX112" fmla="*/ 5548460 w 6858001"/>
              <a:gd name="connsiteY112" fmla="*/ 779273 h 874716"/>
              <a:gd name="connsiteX113" fmla="*/ 5501594 w 6858001"/>
              <a:gd name="connsiteY113" fmla="*/ 780607 h 874716"/>
              <a:gd name="connsiteX114" fmla="*/ 5419295 w 6858001"/>
              <a:gd name="connsiteY114" fmla="*/ 782321 h 874716"/>
              <a:gd name="connsiteX115" fmla="*/ 5393005 w 6858001"/>
              <a:gd name="connsiteY115" fmla="*/ 786703 h 874716"/>
              <a:gd name="connsiteX116" fmla="*/ 5274129 w 6858001"/>
              <a:gd name="connsiteY116" fmla="*/ 774129 h 874716"/>
              <a:gd name="connsiteX117" fmla="*/ 5206308 w 6858001"/>
              <a:gd name="connsiteY117" fmla="*/ 773177 h 874716"/>
              <a:gd name="connsiteX118" fmla="*/ 5129916 w 6858001"/>
              <a:gd name="connsiteY118" fmla="*/ 757554 h 874716"/>
              <a:gd name="connsiteX119" fmla="*/ 5107627 w 6858001"/>
              <a:gd name="connsiteY119" fmla="*/ 758316 h 874716"/>
              <a:gd name="connsiteX120" fmla="*/ 5082670 w 6858001"/>
              <a:gd name="connsiteY120" fmla="*/ 759651 h 874716"/>
              <a:gd name="connsiteX121" fmla="*/ 5006086 w 6858001"/>
              <a:gd name="connsiteY121" fmla="*/ 760795 h 874716"/>
              <a:gd name="connsiteX122" fmla="*/ 4959602 w 6858001"/>
              <a:gd name="connsiteY122" fmla="*/ 766509 h 874716"/>
              <a:gd name="connsiteX123" fmla="*/ 4871019 w 6858001"/>
              <a:gd name="connsiteY123" fmla="*/ 763081 h 874716"/>
              <a:gd name="connsiteX124" fmla="*/ 4838250 w 6858001"/>
              <a:gd name="connsiteY124" fmla="*/ 768033 h 874716"/>
              <a:gd name="connsiteX125" fmla="*/ 4755381 w 6858001"/>
              <a:gd name="connsiteY125" fmla="*/ 768605 h 874716"/>
              <a:gd name="connsiteX126" fmla="*/ 4681083 w 6858001"/>
              <a:gd name="connsiteY126" fmla="*/ 765747 h 874716"/>
              <a:gd name="connsiteX127" fmla="*/ 4609452 w 6858001"/>
              <a:gd name="connsiteY127" fmla="*/ 767271 h 874716"/>
              <a:gd name="connsiteX128" fmla="*/ 4558207 w 6858001"/>
              <a:gd name="connsiteY128" fmla="*/ 773557 h 874716"/>
              <a:gd name="connsiteX129" fmla="*/ 4502579 w 6858001"/>
              <a:gd name="connsiteY129" fmla="*/ 777367 h 874716"/>
              <a:gd name="connsiteX130" fmla="*/ 4349222 w 6858001"/>
              <a:gd name="connsiteY130" fmla="*/ 800038 h 874716"/>
              <a:gd name="connsiteX131" fmla="*/ 4320837 w 6858001"/>
              <a:gd name="connsiteY131" fmla="*/ 794514 h 874716"/>
              <a:gd name="connsiteX132" fmla="*/ 4159667 w 6858001"/>
              <a:gd name="connsiteY132" fmla="*/ 789370 h 874716"/>
              <a:gd name="connsiteX133" fmla="*/ 4124614 w 6858001"/>
              <a:gd name="connsiteY133" fmla="*/ 789752 h 874716"/>
              <a:gd name="connsiteX134" fmla="*/ 4030503 w 6858001"/>
              <a:gd name="connsiteY134" fmla="*/ 767271 h 874716"/>
              <a:gd name="connsiteX135" fmla="*/ 3885338 w 6858001"/>
              <a:gd name="connsiteY135" fmla="*/ 802896 h 874716"/>
              <a:gd name="connsiteX136" fmla="*/ 3749506 w 6858001"/>
              <a:gd name="connsiteY136" fmla="*/ 847473 h 874716"/>
              <a:gd name="connsiteX137" fmla="*/ 3732361 w 6858001"/>
              <a:gd name="connsiteY137" fmla="*/ 853190 h 874716"/>
              <a:gd name="connsiteX138" fmla="*/ 3683591 w 6858001"/>
              <a:gd name="connsiteY138" fmla="*/ 862906 h 874716"/>
              <a:gd name="connsiteX139" fmla="*/ 3623201 w 6858001"/>
              <a:gd name="connsiteY139" fmla="*/ 866334 h 874716"/>
              <a:gd name="connsiteX140" fmla="*/ 3546617 w 6858001"/>
              <a:gd name="connsiteY140" fmla="*/ 874716 h 874716"/>
              <a:gd name="connsiteX141" fmla="*/ 3485275 w 6858001"/>
              <a:gd name="connsiteY141" fmla="*/ 864238 h 874716"/>
              <a:gd name="connsiteX142" fmla="*/ 3399546 w 6858001"/>
              <a:gd name="connsiteY142" fmla="*/ 848618 h 874716"/>
              <a:gd name="connsiteX143" fmla="*/ 3318771 w 6858001"/>
              <a:gd name="connsiteY143" fmla="*/ 833757 h 874716"/>
              <a:gd name="connsiteX144" fmla="*/ 3293244 w 6858001"/>
              <a:gd name="connsiteY144" fmla="*/ 851284 h 874716"/>
              <a:gd name="connsiteX145" fmla="*/ 3253809 w 6858001"/>
              <a:gd name="connsiteY145" fmla="*/ 866524 h 874716"/>
              <a:gd name="connsiteX146" fmla="*/ 3209993 w 6858001"/>
              <a:gd name="connsiteY146" fmla="*/ 848235 h 874716"/>
              <a:gd name="connsiteX147" fmla="*/ 3107500 w 6858001"/>
              <a:gd name="connsiteY147" fmla="*/ 810326 h 874716"/>
              <a:gd name="connsiteX148" fmla="*/ 3042728 w 6858001"/>
              <a:gd name="connsiteY148" fmla="*/ 808610 h 874716"/>
              <a:gd name="connsiteX149" fmla="*/ 2901943 w 6858001"/>
              <a:gd name="connsiteY149" fmla="*/ 792418 h 874716"/>
              <a:gd name="connsiteX150" fmla="*/ 2809930 w 6858001"/>
              <a:gd name="connsiteY150" fmla="*/ 769367 h 874716"/>
              <a:gd name="connsiteX151" fmla="*/ 2743826 w 6858001"/>
              <a:gd name="connsiteY151" fmla="*/ 743268 h 874716"/>
              <a:gd name="connsiteX152" fmla="*/ 2649143 w 6858001"/>
              <a:gd name="connsiteY152" fmla="*/ 709167 h 874716"/>
              <a:gd name="connsiteX153" fmla="*/ 2554079 w 6858001"/>
              <a:gd name="connsiteY153" fmla="*/ 691450 h 874716"/>
              <a:gd name="connsiteX154" fmla="*/ 2485307 w 6858001"/>
              <a:gd name="connsiteY154" fmla="*/ 669160 h 874716"/>
              <a:gd name="connsiteX155" fmla="*/ 2401292 w 6858001"/>
              <a:gd name="connsiteY155" fmla="*/ 653919 h 874716"/>
              <a:gd name="connsiteX156" fmla="*/ 2330806 w 6858001"/>
              <a:gd name="connsiteY156" fmla="*/ 653349 h 874716"/>
              <a:gd name="connsiteX157" fmla="*/ 2220312 w 6858001"/>
              <a:gd name="connsiteY157" fmla="*/ 656015 h 874716"/>
              <a:gd name="connsiteX158" fmla="*/ 2085054 w 6858001"/>
              <a:gd name="connsiteY158" fmla="*/ 609914 h 874716"/>
              <a:gd name="connsiteX159" fmla="*/ 2030378 w 6858001"/>
              <a:gd name="connsiteY159" fmla="*/ 599625 h 874716"/>
              <a:gd name="connsiteX160" fmla="*/ 1978940 w 6858001"/>
              <a:gd name="connsiteY160" fmla="*/ 594863 h 874716"/>
              <a:gd name="connsiteX161" fmla="*/ 1869780 w 6858001"/>
              <a:gd name="connsiteY161" fmla="*/ 564192 h 874716"/>
              <a:gd name="connsiteX162" fmla="*/ 1825393 w 6858001"/>
              <a:gd name="connsiteY162" fmla="*/ 554094 h 874716"/>
              <a:gd name="connsiteX163" fmla="*/ 1763287 w 6858001"/>
              <a:gd name="connsiteY163" fmla="*/ 554286 h 874716"/>
              <a:gd name="connsiteX164" fmla="*/ 1650317 w 6858001"/>
              <a:gd name="connsiteY164" fmla="*/ 540187 h 874716"/>
              <a:gd name="connsiteX165" fmla="*/ 1537537 w 6858001"/>
              <a:gd name="connsiteY165" fmla="*/ 499038 h 874716"/>
              <a:gd name="connsiteX166" fmla="*/ 1489720 w 6858001"/>
              <a:gd name="connsiteY166" fmla="*/ 503038 h 874716"/>
              <a:gd name="connsiteX167" fmla="*/ 1472575 w 6858001"/>
              <a:gd name="connsiteY167" fmla="*/ 502086 h 874716"/>
              <a:gd name="connsiteX168" fmla="*/ 1318456 w 6858001"/>
              <a:gd name="connsiteY168" fmla="*/ 479415 h 874716"/>
              <a:gd name="connsiteX169" fmla="*/ 1303024 w 6858001"/>
              <a:gd name="connsiteY169" fmla="*/ 476939 h 874716"/>
              <a:gd name="connsiteX170" fmla="*/ 1230633 w 6858001"/>
              <a:gd name="connsiteY170" fmla="*/ 456746 h 874716"/>
              <a:gd name="connsiteX171" fmla="*/ 1048125 w 6858001"/>
              <a:gd name="connsiteY171" fmla="*/ 444172 h 874716"/>
              <a:gd name="connsiteX172" fmla="*/ 1036887 w 6858001"/>
              <a:gd name="connsiteY172" fmla="*/ 442648 h 874716"/>
              <a:gd name="connsiteX173" fmla="*/ 975733 w 6858001"/>
              <a:gd name="connsiteY173" fmla="*/ 452744 h 874716"/>
              <a:gd name="connsiteX174" fmla="*/ 945444 w 6858001"/>
              <a:gd name="connsiteY174" fmla="*/ 467033 h 874716"/>
              <a:gd name="connsiteX175" fmla="*/ 898198 w 6858001"/>
              <a:gd name="connsiteY175" fmla="*/ 481893 h 874716"/>
              <a:gd name="connsiteX176" fmla="*/ 850189 w 6858001"/>
              <a:gd name="connsiteY176" fmla="*/ 487417 h 874716"/>
              <a:gd name="connsiteX177" fmla="*/ 769605 w 6858001"/>
              <a:gd name="connsiteY177" fmla="*/ 464937 h 874716"/>
              <a:gd name="connsiteX178" fmla="*/ 740268 w 6858001"/>
              <a:gd name="connsiteY178" fmla="*/ 462651 h 874716"/>
              <a:gd name="connsiteX179" fmla="*/ 674923 w 6858001"/>
              <a:gd name="connsiteY179" fmla="*/ 451792 h 874716"/>
              <a:gd name="connsiteX180" fmla="*/ 617772 w 6858001"/>
              <a:gd name="connsiteY180" fmla="*/ 452554 h 874716"/>
              <a:gd name="connsiteX181" fmla="*/ 571860 w 6858001"/>
              <a:gd name="connsiteY181" fmla="*/ 469891 h 874716"/>
              <a:gd name="connsiteX182" fmla="*/ 505182 w 6858001"/>
              <a:gd name="connsiteY182" fmla="*/ 473319 h 874716"/>
              <a:gd name="connsiteX183" fmla="*/ 462126 w 6858001"/>
              <a:gd name="connsiteY183" fmla="*/ 460747 h 874716"/>
              <a:gd name="connsiteX184" fmla="*/ 453364 w 6858001"/>
              <a:gd name="connsiteY184" fmla="*/ 459033 h 874716"/>
              <a:gd name="connsiteX185" fmla="*/ 340774 w 6858001"/>
              <a:gd name="connsiteY185" fmla="*/ 458268 h 874716"/>
              <a:gd name="connsiteX186" fmla="*/ 200182 w 6858001"/>
              <a:gd name="connsiteY186" fmla="*/ 496180 h 874716"/>
              <a:gd name="connsiteX187" fmla="*/ 176939 w 6858001"/>
              <a:gd name="connsiteY187" fmla="*/ 504182 h 874716"/>
              <a:gd name="connsiteX188" fmla="*/ 63587 w 6858001"/>
              <a:gd name="connsiteY188" fmla="*/ 518088 h 874716"/>
              <a:gd name="connsiteX189" fmla="*/ 2817 w 6858001"/>
              <a:gd name="connsiteY189" fmla="*/ 532187 h 874716"/>
              <a:gd name="connsiteX190" fmla="*/ 0 w 6858001"/>
              <a:gd name="connsiteY190" fmla="*/ 533314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</a:cxnLst>
            <a:rect l="l" t="t" r="r" b="b"/>
            <a:pathLst>
              <a:path w="6858001" h="874716">
                <a:moveTo>
                  <a:pt x="0" y="533314"/>
                </a:moveTo>
                <a:lnTo>
                  <a:pt x="0" y="69206"/>
                </a:lnTo>
                <a:lnTo>
                  <a:pt x="21486" y="71924"/>
                </a:lnTo>
                <a:cubicBezTo>
                  <a:pt x="92546" y="60493"/>
                  <a:pt x="159604" y="87354"/>
                  <a:pt x="228948" y="88116"/>
                </a:cubicBezTo>
                <a:cubicBezTo>
                  <a:pt x="260382" y="88496"/>
                  <a:pt x="291435" y="94592"/>
                  <a:pt x="313533" y="62779"/>
                </a:cubicBezTo>
                <a:cubicBezTo>
                  <a:pt x="316389" y="58587"/>
                  <a:pt x="330298" y="60873"/>
                  <a:pt x="338870" y="62207"/>
                </a:cubicBezTo>
                <a:cubicBezTo>
                  <a:pt x="357921" y="65066"/>
                  <a:pt x="376781" y="72304"/>
                  <a:pt x="395640" y="72114"/>
                </a:cubicBezTo>
                <a:cubicBezTo>
                  <a:pt x="434695" y="71924"/>
                  <a:pt x="473939" y="68876"/>
                  <a:pt x="512802" y="65446"/>
                </a:cubicBezTo>
                <a:cubicBezTo>
                  <a:pt x="527470" y="64112"/>
                  <a:pt x="541569" y="58969"/>
                  <a:pt x="556047" y="55349"/>
                </a:cubicBezTo>
                <a:cubicBezTo>
                  <a:pt x="564048" y="53253"/>
                  <a:pt x="572622" y="47729"/>
                  <a:pt x="580050" y="48871"/>
                </a:cubicBezTo>
                <a:cubicBezTo>
                  <a:pt x="623106" y="55539"/>
                  <a:pt x="662541" y="39157"/>
                  <a:pt x="703308" y="30964"/>
                </a:cubicBezTo>
                <a:cubicBezTo>
                  <a:pt x="722169" y="27154"/>
                  <a:pt x="739886" y="18010"/>
                  <a:pt x="758174" y="11724"/>
                </a:cubicBezTo>
                <a:cubicBezTo>
                  <a:pt x="762936" y="10008"/>
                  <a:pt x="768271" y="8484"/>
                  <a:pt x="773035" y="8866"/>
                </a:cubicBezTo>
                <a:cubicBezTo>
                  <a:pt x="800276" y="11152"/>
                  <a:pt x="827329" y="14390"/>
                  <a:pt x="854379" y="16866"/>
                </a:cubicBezTo>
                <a:cubicBezTo>
                  <a:pt x="878956" y="19152"/>
                  <a:pt x="903722" y="19914"/>
                  <a:pt x="915343" y="47919"/>
                </a:cubicBezTo>
                <a:cubicBezTo>
                  <a:pt x="917059" y="52301"/>
                  <a:pt x="922773" y="55539"/>
                  <a:pt x="927155" y="58397"/>
                </a:cubicBezTo>
                <a:cubicBezTo>
                  <a:pt x="994785" y="102405"/>
                  <a:pt x="1030980" y="101261"/>
                  <a:pt x="1097087" y="54777"/>
                </a:cubicBezTo>
                <a:cubicBezTo>
                  <a:pt x="1103945" y="50015"/>
                  <a:pt x="1118613" y="46585"/>
                  <a:pt x="1123185" y="50395"/>
                </a:cubicBezTo>
                <a:cubicBezTo>
                  <a:pt x="1162049" y="82020"/>
                  <a:pt x="1204532" y="78590"/>
                  <a:pt x="1249302" y="68684"/>
                </a:cubicBezTo>
                <a:cubicBezTo>
                  <a:pt x="1260922" y="66018"/>
                  <a:pt x="1277307" y="66018"/>
                  <a:pt x="1286069" y="72304"/>
                </a:cubicBezTo>
                <a:cubicBezTo>
                  <a:pt x="1327790" y="101451"/>
                  <a:pt x="1372560" y="97261"/>
                  <a:pt x="1417899" y="88688"/>
                </a:cubicBezTo>
                <a:cubicBezTo>
                  <a:pt x="1424948" y="87354"/>
                  <a:pt x="1433522" y="80114"/>
                  <a:pt x="1436568" y="73448"/>
                </a:cubicBezTo>
                <a:cubicBezTo>
                  <a:pt x="1447428" y="49825"/>
                  <a:pt x="1467813" y="41823"/>
                  <a:pt x="1490292" y="35154"/>
                </a:cubicBezTo>
                <a:cubicBezTo>
                  <a:pt x="1525727" y="24296"/>
                  <a:pt x="1560588" y="11532"/>
                  <a:pt x="1596213" y="1245"/>
                </a:cubicBezTo>
                <a:cubicBezTo>
                  <a:pt x="1604978" y="-1231"/>
                  <a:pt x="1615836" y="293"/>
                  <a:pt x="1624980" y="3150"/>
                </a:cubicBezTo>
                <a:cubicBezTo>
                  <a:pt x="1656223" y="12866"/>
                  <a:pt x="1676036" y="37251"/>
                  <a:pt x="1697753" y="59731"/>
                </a:cubicBezTo>
                <a:cubicBezTo>
                  <a:pt x="1707279" y="69638"/>
                  <a:pt x="1720423" y="76686"/>
                  <a:pt x="1733188" y="82400"/>
                </a:cubicBezTo>
                <a:cubicBezTo>
                  <a:pt x="1766335" y="97071"/>
                  <a:pt x="1800246" y="110215"/>
                  <a:pt x="1833775" y="124121"/>
                </a:cubicBezTo>
                <a:cubicBezTo>
                  <a:pt x="1837013" y="125455"/>
                  <a:pt x="1839679" y="128884"/>
                  <a:pt x="1842158" y="131742"/>
                </a:cubicBezTo>
                <a:cubicBezTo>
                  <a:pt x="1866922" y="161843"/>
                  <a:pt x="1891497" y="192132"/>
                  <a:pt x="1916454" y="222233"/>
                </a:cubicBezTo>
                <a:cubicBezTo>
                  <a:pt x="1921216" y="227947"/>
                  <a:pt x="1928076" y="232139"/>
                  <a:pt x="1933219" y="237663"/>
                </a:cubicBezTo>
                <a:cubicBezTo>
                  <a:pt x="1940459" y="245283"/>
                  <a:pt x="1949603" y="252524"/>
                  <a:pt x="1953413" y="261668"/>
                </a:cubicBezTo>
                <a:cubicBezTo>
                  <a:pt x="1965224" y="290433"/>
                  <a:pt x="1987894" y="302817"/>
                  <a:pt x="2016469" y="308151"/>
                </a:cubicBezTo>
                <a:cubicBezTo>
                  <a:pt x="2042570" y="313104"/>
                  <a:pt x="2068669" y="317296"/>
                  <a:pt x="2094578" y="323010"/>
                </a:cubicBezTo>
                <a:cubicBezTo>
                  <a:pt x="2126201" y="329868"/>
                  <a:pt x="2157636" y="337298"/>
                  <a:pt x="2188879" y="345681"/>
                </a:cubicBezTo>
                <a:cubicBezTo>
                  <a:pt x="2202404" y="349301"/>
                  <a:pt x="2216692" y="353491"/>
                  <a:pt x="2228314" y="360921"/>
                </a:cubicBezTo>
                <a:cubicBezTo>
                  <a:pt x="2260890" y="381496"/>
                  <a:pt x="2295753" y="395402"/>
                  <a:pt x="2334044" y="389878"/>
                </a:cubicBezTo>
                <a:cubicBezTo>
                  <a:pt x="2364715" y="385496"/>
                  <a:pt x="2390434" y="396736"/>
                  <a:pt x="2409485" y="414263"/>
                </a:cubicBezTo>
                <a:cubicBezTo>
                  <a:pt x="2444158" y="446078"/>
                  <a:pt x="2481305" y="438838"/>
                  <a:pt x="2518264" y="428552"/>
                </a:cubicBezTo>
                <a:cubicBezTo>
                  <a:pt x="2537315" y="423217"/>
                  <a:pt x="2552935" y="423979"/>
                  <a:pt x="2571034" y="429122"/>
                </a:cubicBezTo>
                <a:cubicBezTo>
                  <a:pt x="2612945" y="441124"/>
                  <a:pt x="2640950" y="473701"/>
                  <a:pt x="2668001" y="502276"/>
                </a:cubicBezTo>
                <a:cubicBezTo>
                  <a:pt x="2691054" y="526661"/>
                  <a:pt x="2716963" y="540377"/>
                  <a:pt x="2745348" y="550666"/>
                </a:cubicBezTo>
                <a:cubicBezTo>
                  <a:pt x="2781163" y="563810"/>
                  <a:pt x="2809548" y="558858"/>
                  <a:pt x="2826694" y="527233"/>
                </a:cubicBezTo>
                <a:cubicBezTo>
                  <a:pt x="2831457" y="518278"/>
                  <a:pt x="2839839" y="507800"/>
                  <a:pt x="2848793" y="505134"/>
                </a:cubicBezTo>
                <a:cubicBezTo>
                  <a:pt x="2892037" y="491800"/>
                  <a:pt x="2935854" y="472367"/>
                  <a:pt x="2982148" y="484179"/>
                </a:cubicBezTo>
                <a:cubicBezTo>
                  <a:pt x="3046158" y="500372"/>
                  <a:pt x="3108644" y="499420"/>
                  <a:pt x="3172654" y="483417"/>
                </a:cubicBezTo>
                <a:cubicBezTo>
                  <a:pt x="3276480" y="457508"/>
                  <a:pt x="3380305" y="430076"/>
                  <a:pt x="3489467" y="435790"/>
                </a:cubicBezTo>
                <a:cubicBezTo>
                  <a:pt x="3507563" y="436742"/>
                  <a:pt x="3529090" y="425121"/>
                  <a:pt x="3544713" y="413691"/>
                </a:cubicBezTo>
                <a:cubicBezTo>
                  <a:pt x="3574622" y="391974"/>
                  <a:pt x="3573288" y="390258"/>
                  <a:pt x="3606817" y="408167"/>
                </a:cubicBezTo>
                <a:cubicBezTo>
                  <a:pt x="3614819" y="412549"/>
                  <a:pt x="3624725" y="415215"/>
                  <a:pt x="3630632" y="421693"/>
                </a:cubicBezTo>
                <a:cubicBezTo>
                  <a:pt x="3660731" y="454650"/>
                  <a:pt x="3697880" y="446648"/>
                  <a:pt x="3734837" y="441886"/>
                </a:cubicBezTo>
                <a:cubicBezTo>
                  <a:pt x="3741315" y="440934"/>
                  <a:pt x="3749125" y="439600"/>
                  <a:pt x="3754652" y="442268"/>
                </a:cubicBezTo>
                <a:cubicBezTo>
                  <a:pt x="3779607" y="454268"/>
                  <a:pt x="3800753" y="450078"/>
                  <a:pt x="3822472" y="433694"/>
                </a:cubicBezTo>
                <a:cubicBezTo>
                  <a:pt x="3841331" y="419597"/>
                  <a:pt x="3863049" y="411215"/>
                  <a:pt x="3885338" y="428742"/>
                </a:cubicBezTo>
                <a:cubicBezTo>
                  <a:pt x="3934870" y="467605"/>
                  <a:pt x="3987829" y="469509"/>
                  <a:pt x="4043839" y="444934"/>
                </a:cubicBezTo>
                <a:cubicBezTo>
                  <a:pt x="4083845" y="427407"/>
                  <a:pt x="4123280" y="423407"/>
                  <a:pt x="4165383" y="441124"/>
                </a:cubicBezTo>
                <a:cubicBezTo>
                  <a:pt x="4181576" y="447982"/>
                  <a:pt x="4202531" y="443410"/>
                  <a:pt x="4221391" y="444934"/>
                </a:cubicBezTo>
                <a:cubicBezTo>
                  <a:pt x="4232060" y="445696"/>
                  <a:pt x="4243872" y="445886"/>
                  <a:pt x="4253014" y="450650"/>
                </a:cubicBezTo>
                <a:cubicBezTo>
                  <a:pt x="4277401" y="462843"/>
                  <a:pt x="4300070" y="478463"/>
                  <a:pt x="4324645" y="490466"/>
                </a:cubicBezTo>
                <a:cubicBezTo>
                  <a:pt x="4336457" y="496180"/>
                  <a:pt x="4350554" y="499228"/>
                  <a:pt x="4363890" y="499420"/>
                </a:cubicBezTo>
                <a:cubicBezTo>
                  <a:pt x="4403325" y="500372"/>
                  <a:pt x="4442761" y="500372"/>
                  <a:pt x="4482004" y="498658"/>
                </a:cubicBezTo>
                <a:cubicBezTo>
                  <a:pt x="4546776" y="495990"/>
                  <a:pt x="4612500" y="495418"/>
                  <a:pt x="4659174" y="438648"/>
                </a:cubicBezTo>
                <a:cubicBezTo>
                  <a:pt x="4662986" y="434076"/>
                  <a:pt x="4671176" y="431408"/>
                  <a:pt x="4677655" y="430646"/>
                </a:cubicBezTo>
                <a:cubicBezTo>
                  <a:pt x="4707564" y="427027"/>
                  <a:pt x="4738235" y="426645"/>
                  <a:pt x="4767764" y="420739"/>
                </a:cubicBezTo>
                <a:cubicBezTo>
                  <a:pt x="4791386" y="415977"/>
                  <a:pt x="4811009" y="417501"/>
                  <a:pt x="4828916" y="434266"/>
                </a:cubicBezTo>
                <a:cubicBezTo>
                  <a:pt x="4852348" y="456364"/>
                  <a:pt x="4880925" y="469319"/>
                  <a:pt x="4912168" y="462271"/>
                </a:cubicBezTo>
                <a:cubicBezTo>
                  <a:pt x="4943409" y="455412"/>
                  <a:pt x="4963984" y="470271"/>
                  <a:pt x="4987037" y="485703"/>
                </a:cubicBezTo>
                <a:cubicBezTo>
                  <a:pt x="5003801" y="496942"/>
                  <a:pt x="5022852" y="511040"/>
                  <a:pt x="5041521" y="512182"/>
                </a:cubicBezTo>
                <a:cubicBezTo>
                  <a:pt x="5083814" y="514658"/>
                  <a:pt x="5120201" y="553904"/>
                  <a:pt x="5166113" y="531615"/>
                </a:cubicBezTo>
                <a:cubicBezTo>
                  <a:pt x="5169161" y="530091"/>
                  <a:pt x="5174685" y="533901"/>
                  <a:pt x="5179067" y="534853"/>
                </a:cubicBezTo>
                <a:cubicBezTo>
                  <a:pt x="5214121" y="542093"/>
                  <a:pt x="5247078" y="535043"/>
                  <a:pt x="5272796" y="511230"/>
                </a:cubicBezTo>
                <a:cubicBezTo>
                  <a:pt x="5306516" y="480177"/>
                  <a:pt x="5343855" y="477129"/>
                  <a:pt x="5385384" y="487227"/>
                </a:cubicBezTo>
                <a:cubicBezTo>
                  <a:pt x="5398721" y="490466"/>
                  <a:pt x="5412057" y="492752"/>
                  <a:pt x="5425582" y="495418"/>
                </a:cubicBezTo>
                <a:cubicBezTo>
                  <a:pt x="5443870" y="499228"/>
                  <a:pt x="5462351" y="503230"/>
                  <a:pt x="5480637" y="507040"/>
                </a:cubicBezTo>
                <a:cubicBezTo>
                  <a:pt x="5498356" y="510850"/>
                  <a:pt x="5517979" y="517326"/>
                  <a:pt x="5531693" y="500944"/>
                </a:cubicBezTo>
                <a:cubicBezTo>
                  <a:pt x="5543506" y="486845"/>
                  <a:pt x="5551888" y="488179"/>
                  <a:pt x="5562746" y="500372"/>
                </a:cubicBezTo>
                <a:cubicBezTo>
                  <a:pt x="5600467" y="543045"/>
                  <a:pt x="5646189" y="569716"/>
                  <a:pt x="5704483" y="571620"/>
                </a:cubicBezTo>
                <a:cubicBezTo>
                  <a:pt x="5716485" y="572002"/>
                  <a:pt x="5728678" y="574668"/>
                  <a:pt x="5740488" y="577526"/>
                </a:cubicBezTo>
                <a:cubicBezTo>
                  <a:pt x="5747728" y="579241"/>
                  <a:pt x="5756493" y="581147"/>
                  <a:pt x="5760873" y="586291"/>
                </a:cubicBezTo>
                <a:cubicBezTo>
                  <a:pt x="5794974" y="625534"/>
                  <a:pt x="5837457" y="652777"/>
                  <a:pt x="5883751" y="674686"/>
                </a:cubicBezTo>
                <a:cubicBezTo>
                  <a:pt x="5900323" y="682496"/>
                  <a:pt x="5918042" y="690306"/>
                  <a:pt x="5935949" y="692592"/>
                </a:cubicBezTo>
                <a:cubicBezTo>
                  <a:pt x="5954617" y="694878"/>
                  <a:pt x="5974240" y="691068"/>
                  <a:pt x="5993291" y="688972"/>
                </a:cubicBezTo>
                <a:cubicBezTo>
                  <a:pt x="6004531" y="687830"/>
                  <a:pt x="6017485" y="688020"/>
                  <a:pt x="6026440" y="682496"/>
                </a:cubicBezTo>
                <a:cubicBezTo>
                  <a:pt x="6054825" y="665159"/>
                  <a:pt x="6082258" y="646491"/>
                  <a:pt x="6108738" y="626296"/>
                </a:cubicBezTo>
                <a:cubicBezTo>
                  <a:pt x="6131409" y="608960"/>
                  <a:pt x="6135981" y="606483"/>
                  <a:pt x="6155602" y="628202"/>
                </a:cubicBezTo>
                <a:cubicBezTo>
                  <a:pt x="6175797" y="650491"/>
                  <a:pt x="6200944" y="662111"/>
                  <a:pt x="6228756" y="666873"/>
                </a:cubicBezTo>
                <a:cubicBezTo>
                  <a:pt x="6272764" y="674304"/>
                  <a:pt x="6317151" y="680590"/>
                  <a:pt x="6361539" y="684210"/>
                </a:cubicBezTo>
                <a:cubicBezTo>
                  <a:pt x="6401736" y="687448"/>
                  <a:pt x="6420977" y="669922"/>
                  <a:pt x="6428979" y="630106"/>
                </a:cubicBezTo>
                <a:cubicBezTo>
                  <a:pt x="6433551" y="608007"/>
                  <a:pt x="6439458" y="584003"/>
                  <a:pt x="6463840" y="578098"/>
                </a:cubicBezTo>
                <a:cubicBezTo>
                  <a:pt x="6503658" y="568572"/>
                  <a:pt x="6544997" y="564382"/>
                  <a:pt x="6564620" y="517708"/>
                </a:cubicBezTo>
                <a:cubicBezTo>
                  <a:pt x="6575478" y="527995"/>
                  <a:pt x="6582146" y="534091"/>
                  <a:pt x="6588625" y="540187"/>
                </a:cubicBezTo>
                <a:cubicBezTo>
                  <a:pt x="6606531" y="557142"/>
                  <a:pt x="6643678" y="564382"/>
                  <a:pt x="6662541" y="549714"/>
                </a:cubicBezTo>
                <a:cubicBezTo>
                  <a:pt x="6690354" y="528377"/>
                  <a:pt x="6715883" y="532377"/>
                  <a:pt x="6742552" y="548952"/>
                </a:cubicBezTo>
                <a:cubicBezTo>
                  <a:pt x="6764841" y="562668"/>
                  <a:pt x="6788417" y="567954"/>
                  <a:pt x="6812063" y="568430"/>
                </a:cubicBezTo>
                <a:lnTo>
                  <a:pt x="6858001" y="562267"/>
                </a:lnTo>
                <a:lnTo>
                  <a:pt x="6858001" y="734520"/>
                </a:lnTo>
                <a:lnTo>
                  <a:pt x="6815516" y="744220"/>
                </a:lnTo>
                <a:cubicBezTo>
                  <a:pt x="6793035" y="749744"/>
                  <a:pt x="6771319" y="759651"/>
                  <a:pt x="6748458" y="763271"/>
                </a:cubicBezTo>
                <a:cubicBezTo>
                  <a:pt x="6694164" y="771843"/>
                  <a:pt x="6639488" y="777939"/>
                  <a:pt x="6584812" y="784797"/>
                </a:cubicBezTo>
                <a:cubicBezTo>
                  <a:pt x="6528424" y="791846"/>
                  <a:pt x="6472225" y="799276"/>
                  <a:pt x="6415833" y="805562"/>
                </a:cubicBezTo>
                <a:cubicBezTo>
                  <a:pt x="6384972" y="808802"/>
                  <a:pt x="6353919" y="809372"/>
                  <a:pt x="6323058" y="812420"/>
                </a:cubicBezTo>
                <a:cubicBezTo>
                  <a:pt x="6296005" y="815088"/>
                  <a:pt x="6269144" y="820041"/>
                  <a:pt x="6242093" y="823281"/>
                </a:cubicBezTo>
                <a:cubicBezTo>
                  <a:pt x="6218660" y="825947"/>
                  <a:pt x="6195037" y="827471"/>
                  <a:pt x="6171605" y="830139"/>
                </a:cubicBezTo>
                <a:cubicBezTo>
                  <a:pt x="6134075" y="834519"/>
                  <a:pt x="6096736" y="839473"/>
                  <a:pt x="6059397" y="844045"/>
                </a:cubicBezTo>
                <a:cubicBezTo>
                  <a:pt x="6043776" y="845759"/>
                  <a:pt x="6027392" y="850522"/>
                  <a:pt x="6012723" y="847665"/>
                </a:cubicBezTo>
                <a:cubicBezTo>
                  <a:pt x="5975764" y="840425"/>
                  <a:pt x="5939377" y="842521"/>
                  <a:pt x="5902610" y="847473"/>
                </a:cubicBezTo>
                <a:cubicBezTo>
                  <a:pt x="5890037" y="849190"/>
                  <a:pt x="5876511" y="848808"/>
                  <a:pt x="5864318" y="845569"/>
                </a:cubicBezTo>
                <a:cubicBezTo>
                  <a:pt x="5839361" y="839091"/>
                  <a:pt x="5815169" y="829947"/>
                  <a:pt x="5790592" y="821947"/>
                </a:cubicBezTo>
                <a:cubicBezTo>
                  <a:pt x="5787924" y="820995"/>
                  <a:pt x="5784686" y="820803"/>
                  <a:pt x="5781830" y="820233"/>
                </a:cubicBezTo>
                <a:cubicBezTo>
                  <a:pt x="5765635" y="816992"/>
                  <a:pt x="5749634" y="813754"/>
                  <a:pt x="5733440" y="810896"/>
                </a:cubicBezTo>
                <a:cubicBezTo>
                  <a:pt x="5724678" y="809372"/>
                  <a:pt x="5715723" y="809182"/>
                  <a:pt x="5706959" y="807848"/>
                </a:cubicBezTo>
                <a:cubicBezTo>
                  <a:pt x="5673050" y="802514"/>
                  <a:pt x="5635711" y="811468"/>
                  <a:pt x="5606372" y="788417"/>
                </a:cubicBezTo>
                <a:cubicBezTo>
                  <a:pt x="5587321" y="773557"/>
                  <a:pt x="5568842" y="776987"/>
                  <a:pt x="5548460" y="779273"/>
                </a:cubicBezTo>
                <a:cubicBezTo>
                  <a:pt x="5533027" y="780987"/>
                  <a:pt x="5517215" y="780415"/>
                  <a:pt x="5501594" y="780607"/>
                </a:cubicBezTo>
                <a:cubicBezTo>
                  <a:pt x="5474161" y="781177"/>
                  <a:pt x="5446728" y="781369"/>
                  <a:pt x="5419295" y="782321"/>
                </a:cubicBezTo>
                <a:cubicBezTo>
                  <a:pt x="5410531" y="782701"/>
                  <a:pt x="5401579" y="787465"/>
                  <a:pt x="5393005" y="786703"/>
                </a:cubicBezTo>
                <a:cubicBezTo>
                  <a:pt x="5353379" y="783083"/>
                  <a:pt x="5313754" y="777367"/>
                  <a:pt x="5274129" y="774129"/>
                </a:cubicBezTo>
                <a:cubicBezTo>
                  <a:pt x="5251650" y="772225"/>
                  <a:pt x="5228597" y="775843"/>
                  <a:pt x="5206308" y="773177"/>
                </a:cubicBezTo>
                <a:cubicBezTo>
                  <a:pt x="5180591" y="770129"/>
                  <a:pt x="5155445" y="762319"/>
                  <a:pt x="5129916" y="757554"/>
                </a:cubicBezTo>
                <a:cubicBezTo>
                  <a:pt x="5122867" y="756222"/>
                  <a:pt x="5115057" y="757936"/>
                  <a:pt x="5107627" y="758316"/>
                </a:cubicBezTo>
                <a:cubicBezTo>
                  <a:pt x="5099245" y="758699"/>
                  <a:pt x="5091052" y="759461"/>
                  <a:pt x="5082670" y="759651"/>
                </a:cubicBezTo>
                <a:cubicBezTo>
                  <a:pt x="5057141" y="760033"/>
                  <a:pt x="5031614" y="759461"/>
                  <a:pt x="5006086" y="760795"/>
                </a:cubicBezTo>
                <a:cubicBezTo>
                  <a:pt x="4990465" y="761557"/>
                  <a:pt x="4974082" y="769367"/>
                  <a:pt x="4959602" y="766509"/>
                </a:cubicBezTo>
                <a:cubicBezTo>
                  <a:pt x="4930075" y="760985"/>
                  <a:pt x="4900546" y="773367"/>
                  <a:pt x="4871019" y="763081"/>
                </a:cubicBezTo>
                <a:cubicBezTo>
                  <a:pt x="4861873" y="760033"/>
                  <a:pt x="4849300" y="767653"/>
                  <a:pt x="4838250" y="768033"/>
                </a:cubicBezTo>
                <a:cubicBezTo>
                  <a:pt x="4810627" y="768985"/>
                  <a:pt x="4783004" y="768795"/>
                  <a:pt x="4755381" y="768605"/>
                </a:cubicBezTo>
                <a:cubicBezTo>
                  <a:pt x="4730614" y="768415"/>
                  <a:pt x="4704895" y="771081"/>
                  <a:pt x="4681083" y="765747"/>
                </a:cubicBezTo>
                <a:cubicBezTo>
                  <a:pt x="4656126" y="760033"/>
                  <a:pt x="4633647" y="760795"/>
                  <a:pt x="4609452" y="767271"/>
                </a:cubicBezTo>
                <a:cubicBezTo>
                  <a:pt x="4592878" y="771653"/>
                  <a:pt x="4575351" y="772225"/>
                  <a:pt x="4558207" y="773557"/>
                </a:cubicBezTo>
                <a:cubicBezTo>
                  <a:pt x="4539728" y="775081"/>
                  <a:pt x="4519343" y="771081"/>
                  <a:pt x="4502579" y="777367"/>
                </a:cubicBezTo>
                <a:cubicBezTo>
                  <a:pt x="4452665" y="796038"/>
                  <a:pt x="4401419" y="800038"/>
                  <a:pt x="4349222" y="800038"/>
                </a:cubicBezTo>
                <a:cubicBezTo>
                  <a:pt x="4339695" y="800038"/>
                  <a:pt x="4329979" y="797372"/>
                  <a:pt x="4320837" y="794514"/>
                </a:cubicBezTo>
                <a:cubicBezTo>
                  <a:pt x="4267493" y="777367"/>
                  <a:pt x="4213961" y="778891"/>
                  <a:pt x="4159667" y="789370"/>
                </a:cubicBezTo>
                <a:cubicBezTo>
                  <a:pt x="4148427" y="791656"/>
                  <a:pt x="4135854" y="792038"/>
                  <a:pt x="4124614" y="789752"/>
                </a:cubicBezTo>
                <a:cubicBezTo>
                  <a:pt x="4092989" y="783083"/>
                  <a:pt x="4062318" y="772033"/>
                  <a:pt x="4030503" y="767271"/>
                </a:cubicBezTo>
                <a:cubicBezTo>
                  <a:pt x="3977925" y="759461"/>
                  <a:pt x="3932394" y="785749"/>
                  <a:pt x="3885338" y="802896"/>
                </a:cubicBezTo>
                <a:cubicBezTo>
                  <a:pt x="3840569" y="819089"/>
                  <a:pt x="3802467" y="855666"/>
                  <a:pt x="3749506" y="847473"/>
                </a:cubicBezTo>
                <a:cubicBezTo>
                  <a:pt x="3744173" y="846711"/>
                  <a:pt x="3738267" y="851856"/>
                  <a:pt x="3732361" y="853190"/>
                </a:cubicBezTo>
                <a:cubicBezTo>
                  <a:pt x="3716168" y="856810"/>
                  <a:pt x="3699976" y="861190"/>
                  <a:pt x="3683591" y="862906"/>
                </a:cubicBezTo>
                <a:cubicBezTo>
                  <a:pt x="3663589" y="865192"/>
                  <a:pt x="3643204" y="864430"/>
                  <a:pt x="3623201" y="866334"/>
                </a:cubicBezTo>
                <a:cubicBezTo>
                  <a:pt x="3597482" y="868620"/>
                  <a:pt x="3572146" y="874716"/>
                  <a:pt x="3546617" y="874716"/>
                </a:cubicBezTo>
                <a:cubicBezTo>
                  <a:pt x="3526042" y="874716"/>
                  <a:pt x="3505657" y="867668"/>
                  <a:pt x="3485275" y="864238"/>
                </a:cubicBezTo>
                <a:cubicBezTo>
                  <a:pt x="3456508" y="859476"/>
                  <a:pt x="3424883" y="860810"/>
                  <a:pt x="3399546" y="848618"/>
                </a:cubicBezTo>
                <a:cubicBezTo>
                  <a:pt x="3372495" y="835663"/>
                  <a:pt x="3346776" y="829757"/>
                  <a:pt x="3318771" y="833757"/>
                </a:cubicBezTo>
                <a:cubicBezTo>
                  <a:pt x="3309437" y="835091"/>
                  <a:pt x="3297434" y="843093"/>
                  <a:pt x="3293244" y="851284"/>
                </a:cubicBezTo>
                <a:cubicBezTo>
                  <a:pt x="3283908" y="869572"/>
                  <a:pt x="3271145" y="872812"/>
                  <a:pt x="3253809" y="866524"/>
                </a:cubicBezTo>
                <a:cubicBezTo>
                  <a:pt x="3238758" y="861190"/>
                  <a:pt x="3220280" y="858524"/>
                  <a:pt x="3209993" y="848235"/>
                </a:cubicBezTo>
                <a:cubicBezTo>
                  <a:pt x="3180844" y="819089"/>
                  <a:pt x="3143695" y="818136"/>
                  <a:pt x="3107500" y="810326"/>
                </a:cubicBezTo>
                <a:cubicBezTo>
                  <a:pt x="3085403" y="805562"/>
                  <a:pt x="3064827" y="805372"/>
                  <a:pt x="3042728" y="808610"/>
                </a:cubicBezTo>
                <a:cubicBezTo>
                  <a:pt x="2994722" y="815850"/>
                  <a:pt x="2948047" y="805562"/>
                  <a:pt x="2901943" y="792418"/>
                </a:cubicBezTo>
                <a:cubicBezTo>
                  <a:pt x="2871462" y="783655"/>
                  <a:pt x="2840219" y="778321"/>
                  <a:pt x="2809930" y="769367"/>
                </a:cubicBezTo>
                <a:cubicBezTo>
                  <a:pt x="2787259" y="762509"/>
                  <a:pt x="2764590" y="754316"/>
                  <a:pt x="2743826" y="743268"/>
                </a:cubicBezTo>
                <a:cubicBezTo>
                  <a:pt x="2713723" y="727073"/>
                  <a:pt x="2687436" y="702689"/>
                  <a:pt x="2649143" y="709167"/>
                </a:cubicBezTo>
                <a:cubicBezTo>
                  <a:pt x="2615421" y="714881"/>
                  <a:pt x="2584942" y="702881"/>
                  <a:pt x="2554079" y="691450"/>
                </a:cubicBezTo>
                <a:cubicBezTo>
                  <a:pt x="2531409" y="683068"/>
                  <a:pt x="2508742" y="674494"/>
                  <a:pt x="2485307" y="669160"/>
                </a:cubicBezTo>
                <a:cubicBezTo>
                  <a:pt x="2457492" y="662873"/>
                  <a:pt x="2426059" y="665541"/>
                  <a:pt x="2401292" y="653919"/>
                </a:cubicBezTo>
                <a:cubicBezTo>
                  <a:pt x="2375383" y="641727"/>
                  <a:pt x="2353859" y="649919"/>
                  <a:pt x="2330806" y="653349"/>
                </a:cubicBezTo>
                <a:cubicBezTo>
                  <a:pt x="2294039" y="658683"/>
                  <a:pt x="2257459" y="668590"/>
                  <a:pt x="2220312" y="656015"/>
                </a:cubicBezTo>
                <a:cubicBezTo>
                  <a:pt x="2175163" y="640775"/>
                  <a:pt x="2130393" y="624392"/>
                  <a:pt x="2085054" y="609914"/>
                </a:cubicBezTo>
                <a:cubicBezTo>
                  <a:pt x="2067525" y="604387"/>
                  <a:pt x="2048668" y="602101"/>
                  <a:pt x="2030378" y="599625"/>
                </a:cubicBezTo>
                <a:cubicBezTo>
                  <a:pt x="2013043" y="597529"/>
                  <a:pt x="1992279" y="602863"/>
                  <a:pt x="1978940" y="594863"/>
                </a:cubicBezTo>
                <a:cubicBezTo>
                  <a:pt x="1944649" y="574288"/>
                  <a:pt x="1909408" y="564192"/>
                  <a:pt x="1869780" y="564192"/>
                </a:cubicBezTo>
                <a:cubicBezTo>
                  <a:pt x="1854920" y="564192"/>
                  <a:pt x="1840441" y="555618"/>
                  <a:pt x="1825393" y="554094"/>
                </a:cubicBezTo>
                <a:cubicBezTo>
                  <a:pt x="1804816" y="552190"/>
                  <a:pt x="1781194" y="547045"/>
                  <a:pt x="1763287" y="554286"/>
                </a:cubicBezTo>
                <a:cubicBezTo>
                  <a:pt x="1721185" y="571430"/>
                  <a:pt x="1687086" y="557142"/>
                  <a:pt x="1650317" y="540187"/>
                </a:cubicBezTo>
                <a:cubicBezTo>
                  <a:pt x="1614120" y="523423"/>
                  <a:pt x="1576019" y="510088"/>
                  <a:pt x="1537537" y="499038"/>
                </a:cubicBezTo>
                <a:cubicBezTo>
                  <a:pt x="1523059" y="495038"/>
                  <a:pt x="1505724" y="501706"/>
                  <a:pt x="1489720" y="503038"/>
                </a:cubicBezTo>
                <a:cubicBezTo>
                  <a:pt x="1484004" y="503420"/>
                  <a:pt x="1477717" y="503992"/>
                  <a:pt x="1472575" y="502086"/>
                </a:cubicBezTo>
                <a:cubicBezTo>
                  <a:pt x="1422854" y="483797"/>
                  <a:pt x="1372368" y="469891"/>
                  <a:pt x="1318456" y="479415"/>
                </a:cubicBezTo>
                <a:cubicBezTo>
                  <a:pt x="1313504" y="480369"/>
                  <a:pt x="1307978" y="478273"/>
                  <a:pt x="1303024" y="476939"/>
                </a:cubicBezTo>
                <a:cubicBezTo>
                  <a:pt x="1278829" y="470081"/>
                  <a:pt x="1255206" y="459223"/>
                  <a:pt x="1230633" y="456746"/>
                </a:cubicBezTo>
                <a:cubicBezTo>
                  <a:pt x="1170051" y="450650"/>
                  <a:pt x="1109091" y="448172"/>
                  <a:pt x="1048125" y="444172"/>
                </a:cubicBezTo>
                <a:cubicBezTo>
                  <a:pt x="1044315" y="443982"/>
                  <a:pt x="1040315" y="443982"/>
                  <a:pt x="1036887" y="442648"/>
                </a:cubicBezTo>
                <a:cubicBezTo>
                  <a:pt x="1014406" y="434456"/>
                  <a:pt x="994785" y="437124"/>
                  <a:pt x="975733" y="452744"/>
                </a:cubicBezTo>
                <a:cubicBezTo>
                  <a:pt x="967350" y="459603"/>
                  <a:pt x="955920" y="463223"/>
                  <a:pt x="945444" y="467033"/>
                </a:cubicBezTo>
                <a:cubicBezTo>
                  <a:pt x="930011" y="472749"/>
                  <a:pt x="914200" y="478273"/>
                  <a:pt x="898198" y="481893"/>
                </a:cubicBezTo>
                <a:cubicBezTo>
                  <a:pt x="882384" y="485321"/>
                  <a:pt x="865430" y="490084"/>
                  <a:pt x="850189" y="487417"/>
                </a:cubicBezTo>
                <a:cubicBezTo>
                  <a:pt x="822756" y="482655"/>
                  <a:pt x="796655" y="471987"/>
                  <a:pt x="769605" y="464937"/>
                </a:cubicBezTo>
                <a:cubicBezTo>
                  <a:pt x="760270" y="462461"/>
                  <a:pt x="749982" y="462843"/>
                  <a:pt x="740268" y="462651"/>
                </a:cubicBezTo>
                <a:cubicBezTo>
                  <a:pt x="717977" y="462081"/>
                  <a:pt x="695116" y="467605"/>
                  <a:pt x="674923" y="451792"/>
                </a:cubicBezTo>
                <a:cubicBezTo>
                  <a:pt x="656255" y="436934"/>
                  <a:pt x="637392" y="441314"/>
                  <a:pt x="617772" y="452554"/>
                </a:cubicBezTo>
                <a:cubicBezTo>
                  <a:pt x="603673" y="460557"/>
                  <a:pt x="587672" y="466843"/>
                  <a:pt x="571860" y="469891"/>
                </a:cubicBezTo>
                <a:cubicBezTo>
                  <a:pt x="550141" y="474081"/>
                  <a:pt x="528615" y="475797"/>
                  <a:pt x="505182" y="473319"/>
                </a:cubicBezTo>
                <a:cubicBezTo>
                  <a:pt x="488607" y="471605"/>
                  <a:pt x="475081" y="470843"/>
                  <a:pt x="462126" y="460747"/>
                </a:cubicBezTo>
                <a:cubicBezTo>
                  <a:pt x="460032" y="459223"/>
                  <a:pt x="456222" y="458841"/>
                  <a:pt x="453364" y="459033"/>
                </a:cubicBezTo>
                <a:cubicBezTo>
                  <a:pt x="415835" y="462271"/>
                  <a:pt x="378686" y="460557"/>
                  <a:pt x="340774" y="458268"/>
                </a:cubicBezTo>
                <a:cubicBezTo>
                  <a:pt x="292579" y="455222"/>
                  <a:pt x="241901" y="464175"/>
                  <a:pt x="200182" y="496180"/>
                </a:cubicBezTo>
                <a:cubicBezTo>
                  <a:pt x="194085" y="500944"/>
                  <a:pt x="184941" y="503038"/>
                  <a:pt x="176939" y="504182"/>
                </a:cubicBezTo>
                <a:cubicBezTo>
                  <a:pt x="139219" y="509134"/>
                  <a:pt x="101308" y="512564"/>
                  <a:pt x="63587" y="518088"/>
                </a:cubicBezTo>
                <a:cubicBezTo>
                  <a:pt x="43012" y="521137"/>
                  <a:pt x="21486" y="523805"/>
                  <a:pt x="2817" y="532187"/>
                </a:cubicBezTo>
                <a:lnTo>
                  <a:pt x="0" y="5333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38C97-C349-4FC7-BD31-4CE11BD9A91F}"/>
              </a:ext>
            </a:extLst>
          </p:cNvPr>
          <p:cNvSpPr/>
          <p:nvPr/>
        </p:nvSpPr>
        <p:spPr>
          <a:xfrm flipV="1">
            <a:off x="3262893" y="1259918"/>
            <a:ext cx="5393455" cy="59456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E2171-872C-8546-21D2-50AFE954B7B0}"/>
              </a:ext>
            </a:extLst>
          </p:cNvPr>
          <p:cNvSpPr/>
          <p:nvPr/>
        </p:nvSpPr>
        <p:spPr>
          <a:xfrm>
            <a:off x="3262893" y="501223"/>
            <a:ext cx="5393454" cy="6304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5A94DD-B6D3-53FA-F6D3-85168E2D995C}"/>
              </a:ext>
            </a:extLst>
          </p:cNvPr>
          <p:cNvSpPr/>
          <p:nvPr/>
        </p:nvSpPr>
        <p:spPr>
          <a:xfrm>
            <a:off x="671763" y="2022810"/>
            <a:ext cx="10497551" cy="3519238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endParaRPr lang="en-US" sz="2000">
              <a:solidFill>
                <a:srgbClr val="D1D5DB"/>
              </a:solidFill>
              <a:latin typeface="Times"/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Evaluate the overall performance of the team during Sprint 1.</a:t>
            </a: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Identify specific process improvements that can enhance productivity and efficiency.</a:t>
            </a:r>
            <a:endParaRPr lang="en-US" sz="2000">
              <a:solidFill>
                <a:srgbClr val="D1D5DB"/>
              </a:solidFill>
              <a:latin typeface="Times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Discuss changes to team communication, collaboration, or workflow.</a:t>
            </a:r>
            <a:endParaRPr lang="en-US" sz="2000">
              <a:latin typeface="Times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Assess whether the features and tasks selected for Sprint 1 were aligned with the sprint goals.</a:t>
            </a:r>
            <a:endParaRPr lang="en-US" sz="2000">
              <a:solidFill>
                <a:srgbClr val="D1D5DB"/>
              </a:solidFill>
              <a:latin typeface="Times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Determine if there were any misunderstandings or misalignments during planning.</a:t>
            </a:r>
            <a:endParaRPr lang="en-US" sz="2000">
              <a:latin typeface="Times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Consider whether the tasks were adequately broken down into manageable units of work.</a:t>
            </a:r>
            <a:endParaRPr lang="en-US" sz="2000">
              <a:solidFill>
                <a:srgbClr val="D1D5DB"/>
              </a:solidFill>
              <a:latin typeface="Times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Reflect on whether the sprint workload was appropriately sized.</a:t>
            </a:r>
            <a:endParaRPr lang="en-US" sz="2000">
              <a:solidFill>
                <a:srgbClr val="D1D5DB"/>
              </a:solidFill>
              <a:latin typeface="Times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Brainstorm actionable steps to make the next sprint more successful and less stressful.</a:t>
            </a:r>
            <a:endParaRPr lang="en-US" sz="2000">
              <a:solidFill>
                <a:srgbClr val="D1D5DB"/>
              </a:solidFill>
              <a:latin typeface="Times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2000" dirty="0">
                <a:solidFill>
                  <a:srgbClr val="D1D5DB"/>
                </a:solidFill>
                <a:latin typeface="Times"/>
                <a:ea typeface="+mn-lt"/>
                <a:cs typeface="+mn-lt"/>
              </a:rPr>
              <a:t>Discuss strategies to manage workload, reduce bottlenecks, and minimize stressors.</a:t>
            </a:r>
            <a:endParaRPr lang="en-US" sz="2000" dirty="0">
              <a:latin typeface="Times"/>
              <a:cs typeface="Calibri" panose="020F0502020204030204"/>
            </a:endParaRP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rgbClr val="D1D5DB"/>
              </a:solidFill>
              <a:latin typeface="Time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06698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Office Theme</vt:lpstr>
      <vt:lpstr>Accurate  classification  of true  face trajectories  in  video using data based KNN algorithm</vt:lpstr>
      <vt:lpstr>•PROBLEM STATEMENT •Sprint 1: Project Backlog </vt:lpstr>
      <vt:lpstr>•PROBLEM STATEMENT •Sprint 1:  Sprint Backlog </vt:lpstr>
      <vt:lpstr>•PROBLEM STATEMENT Sprint 1:Shippable features </vt:lpstr>
      <vt:lpstr>•PROBLEM STATEMENT Sprint 1: Sprint Review </vt:lpstr>
      <vt:lpstr>•PROBLEM STATEMENT Sprint 1: Sprint Retrospective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1183</cp:revision>
  <dcterms:created xsi:type="dcterms:W3CDTF">2021-09-01T13:43:02Z</dcterms:created>
  <dcterms:modified xsi:type="dcterms:W3CDTF">2023-09-19T22:03:27Z</dcterms:modified>
</cp:coreProperties>
</file>